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rohzhegde26/SIH-26074-Fast-and-Curious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_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733" y="855133"/>
            <a:ext cx="4648200" cy="51562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0" y="0"/>
            <a:ext cx="2252133" cy="106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6667" y="152400"/>
            <a:ext cx="9313333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1F497D"/>
                </a:solidFill>
                <a:latin typeface="Garamond"/>
              </a:rP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1867" y="1566333"/>
            <a:ext cx="11430000" cy="482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0133" indent="-186267">
              <a:lnSpc>
                <a:spcPct val="100000"/>
              </a:lnSpc>
              <a:spcAft>
                <a:spcPts val="2600"/>
              </a:spcAft>
              <a:buFont typeface="Arial"/>
              <a:buChar char="•"/>
            </a:pPr>
            <a:r>
              <a:rPr sz="2400" b="1">
                <a:solidFill>
                  <a:srgbClr val="000000"/>
                </a:solidFill>
                <a:latin typeface="Arial"/>
              </a:rPr>
              <a:t>Problem Statement ID – SIH26074</a:t>
            </a:r>
          </a:p>
          <a:p>
            <a:pPr algn="l" marL="220133" indent="-186267">
              <a:lnSpc>
                <a:spcPct val="100000"/>
              </a:lnSpc>
              <a:spcAft>
                <a:spcPts val="2600"/>
              </a:spcAft>
              <a:buFont typeface="Arial"/>
              <a:buChar char="•"/>
            </a:pPr>
            <a:r>
              <a:rPr sz="2400" b="1">
                <a:solidFill>
                  <a:srgbClr val="000000"/>
                </a:solidFill>
                <a:latin typeface="Arial"/>
              </a:rPr>
              <a:t>Problem Statement Title - Downscaling of Weather Forecast from Block level to Panchayat level</a:t>
            </a:r>
          </a:p>
          <a:p>
            <a:pPr algn="l" marL="220133" indent="-186267">
              <a:lnSpc>
                <a:spcPct val="100000"/>
              </a:lnSpc>
              <a:spcAft>
                <a:spcPts val="2600"/>
              </a:spcAft>
              <a:buFont typeface="Arial"/>
              <a:buChar char="•"/>
            </a:pPr>
            <a:r>
              <a:rPr sz="2400" b="1">
                <a:solidFill>
                  <a:srgbClr val="000000"/>
                </a:solidFill>
                <a:latin typeface="Arial"/>
              </a:rPr>
              <a:t>Theme- Agriculture,FoodTech &amp; Rural Development</a:t>
            </a:r>
          </a:p>
          <a:p>
            <a:pPr algn="l" marL="220133" indent="-186267">
              <a:lnSpc>
                <a:spcPct val="100000"/>
              </a:lnSpc>
              <a:spcAft>
                <a:spcPts val="2600"/>
              </a:spcAft>
              <a:buFont typeface="Arial"/>
              <a:buChar char="•"/>
            </a:pPr>
            <a:r>
              <a:rPr sz="2400" b="1">
                <a:solidFill>
                  <a:srgbClr val="000000"/>
                </a:solidFill>
                <a:latin typeface="Arial"/>
              </a:rPr>
              <a:t>PS Category- Software</a:t>
            </a:r>
          </a:p>
          <a:p>
            <a:pPr algn="l" marL="220133" indent="-186267">
              <a:lnSpc>
                <a:spcPct val="100000"/>
              </a:lnSpc>
              <a:spcAft>
                <a:spcPts val="2600"/>
              </a:spcAft>
              <a:buFont typeface="Arial"/>
              <a:buChar char="•"/>
            </a:pPr>
            <a:r>
              <a:rPr sz="2400" b="1">
                <a:solidFill>
                  <a:srgbClr val="000000"/>
                </a:solidFill>
                <a:latin typeface="Arial"/>
              </a:rPr>
              <a:t>Team ID - 173900</a:t>
            </a:r>
          </a:p>
          <a:p>
            <a:pPr algn="l" marL="220133" indent="-186267">
              <a:lnSpc>
                <a:spcPct val="100000"/>
              </a:lnSpc>
              <a:spcAft>
                <a:spcPts val="2600"/>
              </a:spcAft>
              <a:buFont typeface="Arial"/>
              <a:buChar char="•"/>
            </a:pPr>
            <a:r>
              <a:rPr sz="2400" b="1">
                <a:solidFill>
                  <a:srgbClr val="000000"/>
                </a:solidFill>
                <a:latin typeface="Arial"/>
              </a:rPr>
              <a:t>Team Name - FAST&amp;CURIOUS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0"/>
            <a:ext cx="2252133" cy="10668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474133" y="135467"/>
            <a:ext cx="1278467" cy="829733"/>
          </a:xfrm>
          <a:prstGeom prst="ellipse">
            <a:avLst/>
          </a:prstGeom>
          <a:solidFill>
            <a:srgbClr val="FFFFFF"/>
          </a:solidFill>
          <a:ln w="508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000000"/>
                </a:solidFill>
                <a:latin typeface="Calibri"/>
              </a:rPr>
              <a:t>FAST&amp;</a:t>
            </a:r>
          </a:p>
          <a:p>
            <a:pPr algn="ctr"/>
            <a:r>
              <a:rPr sz="1800">
                <a:solidFill>
                  <a:srgbClr val="000000"/>
                </a:solidFill>
                <a:latin typeface="Calibri"/>
              </a:rPr>
              <a:t>CURIOUS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2667" y="389467"/>
            <a:ext cx="7874000" cy="677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</a:rPr>
              <a:t>Spatiotemporal Diffusion Downscaler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8467"/>
            <a:ext cx="12192000" cy="499533"/>
          </a:xfrm>
          <a:prstGeom prst="rect">
            <a:avLst/>
          </a:prstGeom>
          <a:solidFill>
            <a:srgbClr val="00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402667" y="6443133"/>
            <a:ext cx="3386667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@SIH Idea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43133"/>
            <a:ext cx="423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1270000"/>
            <a:ext cx="11768667" cy="677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Problem Statement: A coarse 27 km (0.25°) GFS forecast gives one value for dozens of Gram Panchayats, missing local showers and terrain effects.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267" y="2057400"/>
            <a:ext cx="338666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33" b="1">
                <a:solidFill>
                  <a:srgbClr val="000000"/>
                </a:solidFill>
                <a:latin typeface="Times New Roman"/>
              </a:rPr>
              <a:t>Proposed Solution: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472267"/>
            <a:ext cx="63500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0133" indent="-186267">
              <a:lnSpc>
                <a:spcPct val="98000"/>
              </a:lnSpc>
              <a:spcAft>
                <a:spcPts val="5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Spatiotemporal Transformer Downscaling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: attention across space, time and the 6 variables, with a Mixture-of-Experts layer, turns the coarse forecast into a 0.05° (~5.5 km) field.</a:t>
            </a:r>
          </a:p>
          <a:p>
            <a:pPr algn="l" marL="220133" indent="-186267">
              <a:lnSpc>
                <a:spcPct val="98000"/>
              </a:lnSpc>
              <a:spcAft>
                <a:spcPts val="5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Cross-Fitted Residual Diffusion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: generates an ensemble of fine-scale detail on top of the transformer; each training season comes from a model that never saw it (rain CRPS −19 %).</a:t>
            </a:r>
          </a:p>
          <a:p>
            <a:pPr algn="l" marL="220133" indent="-186267">
              <a:lnSpc>
                <a:spcPct val="98000"/>
              </a:lnSpc>
              <a:spcAft>
                <a:spcPts val="5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Topography Coupling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: Copernicus GLO-30 elevation layers and a land mask capture ridge and valley effects.</a:t>
            </a:r>
          </a:p>
          <a:p>
            <a:pPr algn="l" marL="220133" indent="-186267">
              <a:lnSpc>
                <a:spcPct val="98000"/>
              </a:lnSpc>
              <a:spcAft>
                <a:spcPts val="5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Calibrated Uncertainty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: spread calibration and a rain tail cap; 5–95 % ranges cover 88 % of outcomes on the unseen 2023 monsoon.</a:t>
            </a:r>
          </a:p>
          <a:p>
            <a:pPr algn="l" marL="220133" indent="-186267">
              <a:lnSpc>
                <a:spcPct val="98000"/>
              </a:lnSpc>
              <a:spcAft>
                <a:spcPts val="50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Real Forecasts, Real Skill</a:t>
            </a:r>
            <a:r>
              <a:rPr sz="1600" b="0">
                <a:solidFill>
                  <a:srgbClr val="000000"/>
                </a:solidFill>
                <a:latin typeface="Times New Roman"/>
              </a:rPr>
              <a:t>: trained on 1,096 genuine GFS forecasts; on 2023 it cuts wet-day rain error by 20 % and Tmax error by 24 % versus raw GFS.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2733" y="1761067"/>
            <a:ext cx="4699000" cy="668867"/>
          </a:xfrm>
          <a:prstGeom prst="roundRect">
            <a:avLst>
              <a:gd name="adj" fmla="val 18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0" y="1828800"/>
            <a:ext cx="4572000" cy="5418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3" b="1">
                <a:solidFill>
                  <a:srgbClr val="000000"/>
                </a:solidFill>
                <a:latin typeface="Arial"/>
              </a:rPr>
              <a:t>INPUTS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3" b="1">
                <a:solidFill>
                  <a:srgbClr val="000000"/>
                </a:solidFill>
                <a:latin typeface="Arial"/>
              </a:rPr>
              <a:t>Real GFS 0.25° (7 days × 6 vars), ERA5 history, Terrain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61200" y="2692400"/>
            <a:ext cx="4699000" cy="668867"/>
          </a:xfrm>
          <a:prstGeom prst="roundRect">
            <a:avLst>
              <a:gd name="adj" fmla="val 18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12000" y="2760133"/>
            <a:ext cx="4572000" cy="5418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3" b="1">
                <a:solidFill>
                  <a:srgbClr val="000000"/>
                </a:solidFill>
                <a:latin typeface="Arial"/>
              </a:rPr>
              <a:t>TRANSFORMER BACKBONE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3" b="1">
                <a:solidFill>
                  <a:srgbClr val="000000"/>
                </a:solidFill>
                <a:latin typeface="Arial"/>
              </a:rPr>
              <a:t>Spatiotemporal attention + Mixture-of-Experts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52733" y="3615267"/>
            <a:ext cx="4699000" cy="668867"/>
          </a:xfrm>
          <a:prstGeom prst="roundRect">
            <a:avLst>
              <a:gd name="adj" fmla="val 18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12000" y="3683000"/>
            <a:ext cx="4572000" cy="5418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3" b="1">
                <a:solidFill>
                  <a:srgbClr val="000000"/>
                </a:solidFill>
                <a:latin typeface="Arial"/>
              </a:rPr>
              <a:t>MACRO BASELINE B(X)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3" b="1">
                <a:solidFill>
                  <a:srgbClr val="000000"/>
                </a:solidFill>
                <a:latin typeface="Arial"/>
              </a:rPr>
              <a:t>Deterministic forecast, 3 seeds averaged (FAST)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5133" y="4461933"/>
            <a:ext cx="3276600" cy="838200"/>
          </a:xfrm>
          <a:prstGeom prst="roundRect">
            <a:avLst>
              <a:gd name="adj" fmla="val 18000"/>
            </a:avLst>
          </a:prstGeom>
          <a:solidFill>
            <a:srgbClr val="F26F20"/>
          </a:solidFill>
          <a:ln w="50800">
            <a:solidFill>
              <a:srgbClr val="C24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34400" y="4521200"/>
            <a:ext cx="3158067" cy="7196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3" b="1">
                <a:solidFill>
                  <a:srgbClr val="FFFFFF"/>
                </a:solidFill>
                <a:latin typeface="Arial"/>
              </a:rPr>
              <a:t>RESIDUAL DIFFUSION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3" b="1">
                <a:solidFill>
                  <a:srgbClr val="FFFFFF"/>
                </a:solidFill>
                <a:latin typeface="Arial"/>
              </a:rPr>
              <a:t>Cross-fitted, DPM-Solver++ 24–32 steps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35800" y="4614333"/>
            <a:ext cx="1168400" cy="584200"/>
          </a:xfrm>
          <a:prstGeom prst="roundRect">
            <a:avLst>
              <a:gd name="adj" fmla="val 18000"/>
            </a:avLst>
          </a:prstGeom>
          <a:solidFill>
            <a:srgbClr val="FFF2EB"/>
          </a:solidFill>
          <a:ln w="33866">
            <a:solidFill>
              <a:srgbClr val="F26F2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69667" y="4648200"/>
            <a:ext cx="1100667" cy="5164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3" b="1">
                <a:solidFill>
                  <a:srgbClr val="000000"/>
                </a:solidFill>
                <a:latin typeface="Arial"/>
              </a:rPr>
              <a:t>Noise: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3" b="1">
                <a:solidFill>
                  <a:srgbClr val="000000"/>
                </a:solidFill>
                <a:latin typeface="Arial"/>
              </a:rPr>
              <a:t>z_T ~ N(0, 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52733" y="5486400"/>
            <a:ext cx="4699000" cy="770467"/>
          </a:xfrm>
          <a:prstGeom prst="roundRect">
            <a:avLst>
              <a:gd name="adj" fmla="val 18000"/>
            </a:avLst>
          </a:prstGeom>
          <a:solidFill>
            <a:srgbClr val="0A6E4E"/>
          </a:solidFill>
          <a:ln w="50800">
            <a:solidFill>
              <a:srgbClr val="05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12000" y="5520267"/>
            <a:ext cx="4572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3" b="1">
                <a:solidFill>
                  <a:srgbClr val="FFFFFF"/>
                </a:solidFill>
                <a:latin typeface="Arial"/>
              </a:rPr>
              <a:t>PROBABILISTIC FORECAST: Y = B(X) + 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33" b="1">
                <a:solidFill>
                  <a:srgbClr val="FFFFFF"/>
                </a:solidFill>
                <a:latin typeface="Arial"/>
              </a:rPr>
              <a:t>7-Day × 6-Variable (P, Tmax, Tmin, RH, U, V) → 234 Gram Panchayats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06467" y="2429933"/>
            <a:ext cx="0" cy="245534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406467" y="3361267"/>
            <a:ext cx="0" cy="237066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06467" y="4284133"/>
            <a:ext cx="0" cy="160867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06467" y="5300133"/>
            <a:ext cx="0" cy="169334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04200" y="4910667"/>
            <a:ext cx="25400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0"/>
            <a:ext cx="2252133" cy="10668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64067" y="59267"/>
            <a:ext cx="1278467" cy="829733"/>
          </a:xfrm>
          <a:prstGeom prst="ellipse">
            <a:avLst/>
          </a:prstGeom>
          <a:solidFill>
            <a:srgbClr val="FFFFFF"/>
          </a:solidFill>
          <a:ln w="508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000000"/>
                </a:solidFill>
                <a:latin typeface="Calibri"/>
              </a:rPr>
              <a:t>FAST&amp;</a:t>
            </a:r>
          </a:p>
          <a:p>
            <a:pPr algn="ctr"/>
            <a:r>
              <a:rPr sz="1800">
                <a:solidFill>
                  <a:srgbClr val="000000"/>
                </a:solidFill>
                <a:latin typeface="Calibri"/>
              </a:rPr>
              <a:t>CURIOUS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2667" y="237067"/>
            <a:ext cx="7874000" cy="677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8467"/>
            <a:ext cx="12192000" cy="499533"/>
          </a:xfrm>
          <a:prstGeom prst="rect">
            <a:avLst/>
          </a:prstGeom>
          <a:solidFill>
            <a:srgbClr val="00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402667" y="6443133"/>
            <a:ext cx="3386667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@SIH Idea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43133"/>
            <a:ext cx="423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800" y="1253067"/>
            <a:ext cx="2455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000" y="1490133"/>
            <a:ext cx="2413000" cy="3386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PyTorch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Python, NumPy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Xarray, Zarr, NetCDF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ecCodes (GRIB)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FastAPI, Uvicorn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Pydantic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Shapely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Leaflet.js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HTML5, CSS, JS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Service Worker (PWA)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SQLite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Kaggle T4 GPUs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800" y="4064000"/>
            <a:ext cx="2455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CODE &amp; MODEL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000" y="4309533"/>
            <a:ext cx="2413000" cy="592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66" b="0" u="sng">
                <a:solidFill>
                  <a:srgbClr val="0E4F8A"/>
                </a:solidFill>
                <a:latin typeface="Times New Roman"/>
                <a:hlinkClick r:id="rId3"/>
              </a:rPr>
              <a:t>github.com/rohzhegde26/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66" b="0" u="sng">
                <a:solidFill>
                  <a:srgbClr val="0E4F8A"/>
                </a:solidFill>
                <a:latin typeface="Times New Roman"/>
                <a:hlinkClick r:id="rId3"/>
              </a:rPr>
              <a:t>SIH-26074-Fast-and-Curious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800" y="4953000"/>
            <a:ext cx="2455333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PERFORMANCE &amp;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000" y="5418667"/>
            <a:ext cx="2413000" cy="931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0.17 s FAST forecast (T4)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8.3 s for 16 members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&lt; 1 GB GPU memory</a:t>
            </a:r>
          </a:p>
          <a:p>
            <a:pPr algn="l" marL="220133" indent="-186267">
              <a:lnSpc>
                <a:spcPct val="92000"/>
              </a:lnSpc>
              <a:spcAft>
                <a:spcPts val="0"/>
              </a:spcAft>
              <a:buFont typeface="Arial"/>
              <a:buChar char="•"/>
            </a:pPr>
            <a:r>
              <a:rPr sz="1466" b="0">
                <a:solidFill>
                  <a:srgbClr val="000000"/>
                </a:solidFill>
                <a:latin typeface="Times New Roman"/>
              </a:rPr>
              <a:t>234 GPs × 7 days × 6 vars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2400" y="1388533"/>
            <a:ext cx="0" cy="4326467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05667" y="1075267"/>
            <a:ext cx="2370667" cy="4783667"/>
          </a:xfrm>
          <a:prstGeom prst="roundRect">
            <a:avLst>
              <a:gd name="adj" fmla="val 6000"/>
            </a:avLst>
          </a:prstGeom>
          <a:solidFill>
            <a:srgbClr val="DFF0DF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005667" y="1185333"/>
            <a:ext cx="2370667" cy="220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33" b="1">
                <a:solidFill>
                  <a:srgbClr val="000000"/>
                </a:solidFill>
                <a:latin typeface="Times New Roman"/>
              </a:rPr>
              <a:t>STAGE 1 - INPUTS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34267" y="1524000"/>
            <a:ext cx="1981200" cy="1320800"/>
          </a:xfrm>
          <a:prstGeom prst="roundRect">
            <a:avLst>
              <a:gd name="adj" fmla="val 10000"/>
            </a:avLst>
          </a:prstGeom>
          <a:solidFill>
            <a:srgbClr val="E9F6ED"/>
          </a:solidFill>
          <a:ln w="50800">
            <a:solidFill>
              <a:srgbClr val="05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icon_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6267" y="1591733"/>
            <a:ext cx="474133" cy="406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85067" y="2048933"/>
            <a:ext cx="1879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Historical Weather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(ERA5, last H = 3 days,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actual obs up to t0)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4267" y="3073400"/>
            <a:ext cx="1981200" cy="1185333"/>
          </a:xfrm>
          <a:prstGeom prst="roundRect">
            <a:avLst>
              <a:gd name="adj" fmla="val 10000"/>
            </a:avLst>
          </a:prstGeom>
          <a:solidFill>
            <a:srgbClr val="E9F6ED"/>
          </a:solidFill>
          <a:ln w="50800">
            <a:solidFill>
              <a:srgbClr val="05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icon_s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6267" y="3141133"/>
            <a:ext cx="474133" cy="406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285067" y="3598333"/>
            <a:ext cx="1879600" cy="626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Future Coarse NWP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(real GFS 0.25°,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D+1 … D+7)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34267" y="4521200"/>
            <a:ext cx="1981200" cy="1185333"/>
          </a:xfrm>
          <a:prstGeom prst="roundRect">
            <a:avLst>
              <a:gd name="adj" fmla="val 10000"/>
            </a:avLst>
          </a:prstGeom>
          <a:solidFill>
            <a:srgbClr val="E9F6ED"/>
          </a:solidFill>
          <a:ln w="50800">
            <a:solidFill>
              <a:srgbClr val="05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icon_ter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6267" y="4588933"/>
            <a:ext cx="474133" cy="406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285067" y="5046133"/>
            <a:ext cx="1879600" cy="626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Terrain &amp; Context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(Copernicus GLO-30 DEM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layers + land mask)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89600" y="1066800"/>
            <a:ext cx="4013200" cy="1354667"/>
          </a:xfrm>
          <a:prstGeom prst="roundRect">
            <a:avLst>
              <a:gd name="adj" fmla="val 8000"/>
            </a:avLst>
          </a:prstGeom>
          <a:solidFill>
            <a:srgbClr val="E9F6ED"/>
          </a:solidFill>
          <a:ln w="50800">
            <a:solidFill>
              <a:srgbClr val="05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57333" y="1151467"/>
            <a:ext cx="3877733" cy="1227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STAGE 2 - SPATIOTEMPORAL BACKBONE</a:t>
            </a:r>
          </a:p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Transformer + Cross-Attention</a:t>
            </a:r>
          </a:p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Times New Roman"/>
              </a:rPr>
              <a:t>(History &lt;-&gt; Future Conditioning)</a:t>
            </a:r>
          </a:p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Mixture-of-Experts: </a:t>
            </a:r>
            <a:r>
              <a:rPr sz="1200" b="0">
                <a:solidFill>
                  <a:srgbClr val="000000"/>
                </a:solidFill>
                <a:latin typeface="Times New Roman"/>
              </a:rPr>
              <a:t>8 experts, top-2 routing</a:t>
            </a:r>
          </a:p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Variables: </a:t>
            </a:r>
            <a:r>
              <a:rPr sz="1200" b="0">
                <a:solidFill>
                  <a:srgbClr val="000000"/>
                </a:solidFill>
                <a:latin typeface="Times New Roman"/>
              </a:rPr>
              <a:t>P, T_max, T_min, RH, U, V</a:t>
            </a:r>
          </a:p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Deterministic Macro Baseline B(X)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48867" y="2506133"/>
            <a:ext cx="4030133" cy="1574800"/>
          </a:xfrm>
          <a:prstGeom prst="roundRect">
            <a:avLst>
              <a:gd name="adj" fmla="val 8000"/>
            </a:avLst>
          </a:prstGeom>
          <a:solidFill>
            <a:srgbClr val="FFF2EB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816600" y="2590800"/>
            <a:ext cx="3894667" cy="143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STAGE 3 - CROSS-FITTED RESIDUAL DIFFUSION</a:t>
            </a:r>
          </a:p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Gaussian Initialization: </a:t>
            </a:r>
            <a:r>
              <a:rPr sz="1200" b="0">
                <a:solidFill>
                  <a:srgbClr val="000000"/>
                </a:solidFill>
                <a:latin typeface="Times New Roman"/>
              </a:rPr>
              <a:t>z_T ~ N(0, I)</a:t>
            </a:r>
          </a:p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Cross-Fitting: </a:t>
            </a:r>
            <a:r>
              <a:rPr sz="1200" b="0">
                <a:solidFill>
                  <a:srgbClr val="000000"/>
                </a:solidFill>
                <a:latin typeface="Times New Roman"/>
              </a:rPr>
              <a:t>each season's residuals from a model that never saw it</a:t>
            </a:r>
          </a:p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Reverse Denoising: </a:t>
            </a:r>
            <a:r>
              <a:rPr sz="1200" b="0">
                <a:solidFill>
                  <a:srgbClr val="000000"/>
                </a:solidFill>
                <a:latin typeface="Times New Roman"/>
              </a:rPr>
              <a:t>DPM-Solver++, 24–32 steps</a:t>
            </a:r>
          </a:p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Ensemble: </a:t>
            </a:r>
            <a:r>
              <a:rPr sz="1200" b="0">
                <a:solidFill>
                  <a:srgbClr val="000000"/>
                </a:solidFill>
                <a:latin typeface="Times New Roman"/>
              </a:rPr>
              <a:t>8–16 members, R(1) … R(E)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5800" y="4318000"/>
            <a:ext cx="4021667" cy="1811867"/>
          </a:xfrm>
          <a:prstGeom prst="roundRect">
            <a:avLst>
              <a:gd name="adj" fmla="val 7000"/>
            </a:avLst>
          </a:prstGeom>
          <a:solidFill>
            <a:srgbClr val="E9F6ED"/>
          </a:solidFill>
          <a:ln w="50800">
            <a:solidFill>
              <a:srgbClr val="05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833533" y="4385733"/>
            <a:ext cx="3886200" cy="169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STAGE 4 - CALIBRATION &amp; POST-PROCESSING</a:t>
            </a:r>
          </a:p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Y = </a:t>
            </a:r>
            <a:r>
              <a:rPr sz="1200" b="0">
                <a:solidFill>
                  <a:srgbClr val="000000"/>
                </a:solidFill>
                <a:latin typeface="Times New Roman"/>
              </a:rPr>
              <a:t>B(X) + R (summation per ensemble member)</a:t>
            </a:r>
          </a:p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Calibration: </a:t>
            </a:r>
            <a:r>
              <a:rPr sz="1200" b="0">
                <a:solidFill>
                  <a:srgbClr val="000000"/>
                </a:solidFill>
                <a:latin typeface="Times New Roman"/>
              </a:rPr>
              <a:t>spread per lead × variable, rain quantile mapping, rain tail cap</a:t>
            </a:r>
          </a:p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Physical Inversion: </a:t>
            </a:r>
            <a:r>
              <a:rPr sz="1200" b="0">
                <a:solidFill>
                  <a:srgbClr val="000000"/>
                </a:solidFill>
                <a:latin typeface="Times New Roman"/>
              </a:rPr>
              <a:t>expm1(precip), unstandardize physical vars</a:t>
            </a:r>
          </a:p>
          <a:p>
            <a:pPr algn="ctr">
              <a:lnSpc>
                <a:spcPct val="95000"/>
              </a:lnSpc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Times New Roman"/>
              </a:rPr>
              <a:t>Zonal GIS Aggregation: </a:t>
            </a:r>
            <a:r>
              <a:rPr sz="1200" b="0">
                <a:solidFill>
                  <a:srgbClr val="000000"/>
                </a:solidFill>
                <a:latin typeface="Times New Roman"/>
              </a:rPr>
              <a:t>0.05° grid → 234 Gram Panchayats of Mandya (area-weighted)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51533" y="1075267"/>
            <a:ext cx="1413933" cy="2802467"/>
          </a:xfrm>
          <a:prstGeom prst="roundRect">
            <a:avLst>
              <a:gd name="adj" fmla="val 12000"/>
            </a:avLst>
          </a:prstGeom>
          <a:solidFill>
            <a:srgbClr val="E8E8E8"/>
          </a:solidFill>
          <a:ln w="7620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219267" y="1185333"/>
            <a:ext cx="1278467" cy="264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Times New Roman"/>
              </a:rPr>
              <a:t>Agro-Weather PWA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7-Day × 6-Variable Panchayat Forecast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5–95 % Ranges &amp; Exceedance Probabilities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4 Modes: FAST to 16-member ENSEMBLE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Times New Roman"/>
              </a:rPr>
              <a:t>Proof plots: GFS vs v3 vs observed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07600" y="4191000"/>
            <a:ext cx="1828800" cy="1921933"/>
          </a:xfrm>
          <a:prstGeom prst="roundRect">
            <a:avLst>
              <a:gd name="adj" fmla="val 8000"/>
            </a:avLst>
          </a:prstGeom>
          <a:solidFill>
            <a:srgbClr val="FFF2EB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058400" y="4250267"/>
            <a:ext cx="1727200" cy="1820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300"/>
              </a:spcAft>
            </a:pPr>
            <a:r>
              <a:rPr sz="1133" b="1">
                <a:solidFill>
                  <a:srgbClr val="000000"/>
                </a:solidFill>
                <a:latin typeface="Times New Roman"/>
              </a:rPr>
              <a:t>PROBABILISTIC EVALUATION &amp; VALIDATION</a:t>
            </a:r>
          </a:p>
          <a:p>
            <a:pPr algn="ctr">
              <a:lnSpc>
                <a:spcPct val="92000"/>
              </a:lnSpc>
              <a:spcAft>
                <a:spcPts val="300"/>
              </a:spcAft>
            </a:pPr>
            <a:r>
              <a:rPr sz="1133" b="1">
                <a:solidFill>
                  <a:srgbClr val="000000"/>
                </a:solidFill>
                <a:latin typeface="Times New Roman"/>
              </a:rPr>
              <a:t>Held-out Test</a:t>
            </a:r>
          </a:p>
          <a:p>
            <a:pPr algn="ctr">
              <a:lnSpc>
                <a:spcPct val="92000"/>
              </a:lnSpc>
              <a:spcAft>
                <a:spcPts val="300"/>
              </a:spcAft>
            </a:pPr>
            <a:r>
              <a:rPr sz="1133" b="0">
                <a:solidFill>
                  <a:srgbClr val="000000"/>
                </a:solidFill>
                <a:latin typeface="Times New Roman"/>
              </a:rPr>
              <a:t>(2023 monsoon, 122 forecasts; trained 2015–22)</a:t>
            </a:r>
          </a:p>
          <a:p>
            <a:pPr algn="ctr">
              <a:lnSpc>
                <a:spcPct val="92000"/>
              </a:lnSpc>
              <a:spcAft>
                <a:spcPts val="300"/>
              </a:spcAft>
            </a:pPr>
            <a:r>
              <a:rPr sz="1133" b="1">
                <a:solidFill>
                  <a:srgbClr val="000000"/>
                </a:solidFill>
                <a:latin typeface="Times New Roman"/>
              </a:rPr>
              <a:t>Metrics: </a:t>
            </a:r>
            <a:r>
              <a:rPr sz="1133" b="0">
                <a:solidFill>
                  <a:srgbClr val="000000"/>
                </a:solidFill>
                <a:latin typeface="Times New Roman"/>
              </a:rPr>
              <a:t>CRPS, spread-skill ratio, coverage, CSS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511800" y="1744133"/>
            <a:ext cx="0" cy="3479800"/>
          </a:xfrm>
          <a:prstGeom prst="line">
            <a:avLst/>
          </a:prstGeom>
          <a:ln w="25400">
            <a:solidFill>
              <a:srgbClr val="0E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511800" y="1744133"/>
            <a:ext cx="160867" cy="0"/>
          </a:xfrm>
          <a:prstGeom prst="line">
            <a:avLst/>
          </a:prstGeom>
          <a:ln w="25400">
            <a:solidFill>
              <a:srgbClr val="0E8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452533" y="1684867"/>
            <a:ext cx="118533" cy="118533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5511800" y="5223933"/>
            <a:ext cx="160867" cy="0"/>
          </a:xfrm>
          <a:prstGeom prst="line">
            <a:avLst/>
          </a:prstGeom>
          <a:ln w="25400">
            <a:solidFill>
              <a:srgbClr val="0E8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5452533" y="5164667"/>
            <a:ext cx="118533" cy="118533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1" name="Connector 40"/>
          <p:cNvCxnSpPr/>
          <p:nvPr/>
        </p:nvCxnSpPr>
        <p:spPr>
          <a:xfrm>
            <a:off x="5240867" y="3649133"/>
            <a:ext cx="491066" cy="0"/>
          </a:xfrm>
          <a:prstGeom prst="line">
            <a:avLst/>
          </a:prstGeom>
          <a:ln w="25400">
            <a:solidFill>
              <a:srgbClr val="F26F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181600" y="3589867"/>
            <a:ext cx="118533" cy="118533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3" name="Connector 42"/>
          <p:cNvCxnSpPr/>
          <p:nvPr/>
        </p:nvCxnSpPr>
        <p:spPr>
          <a:xfrm>
            <a:off x="7687733" y="2429933"/>
            <a:ext cx="0" cy="59267"/>
          </a:xfrm>
          <a:prstGeom prst="line">
            <a:avLst/>
          </a:prstGeom>
          <a:ln w="25400">
            <a:solidFill>
              <a:srgbClr val="0E8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87733" y="4089400"/>
            <a:ext cx="0" cy="211667"/>
          </a:xfrm>
          <a:prstGeom prst="line">
            <a:avLst/>
          </a:prstGeom>
          <a:ln w="25400">
            <a:solidFill>
              <a:srgbClr val="0E8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719733" y="1938867"/>
            <a:ext cx="414867" cy="0"/>
          </a:xfrm>
          <a:prstGeom prst="line">
            <a:avLst/>
          </a:prstGeom>
          <a:ln w="25400">
            <a:solidFill>
              <a:srgbClr val="0E803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9643533" y="1879600"/>
            <a:ext cx="118533" cy="118533"/>
          </a:xfrm>
          <a:prstGeom prst="ellipse">
            <a:avLst/>
          </a:prstGeom>
          <a:solidFill>
            <a:srgbClr val="0A6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7" name="Connector 46"/>
          <p:cNvCxnSpPr/>
          <p:nvPr/>
        </p:nvCxnSpPr>
        <p:spPr>
          <a:xfrm>
            <a:off x="9795933" y="3539067"/>
            <a:ext cx="110067" cy="0"/>
          </a:xfrm>
          <a:prstGeom prst="line">
            <a:avLst/>
          </a:prstGeom>
          <a:ln w="25400">
            <a:solidFill>
              <a:srgbClr val="F26F2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9719733" y="3479800"/>
            <a:ext cx="118533" cy="118533"/>
          </a:xfrm>
          <a:prstGeom prst="ellipse">
            <a:avLst/>
          </a:prstGeom>
          <a:solidFill>
            <a:srgbClr val="F26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9" name="Connector 48"/>
          <p:cNvCxnSpPr/>
          <p:nvPr/>
        </p:nvCxnSpPr>
        <p:spPr>
          <a:xfrm>
            <a:off x="9906000" y="3539067"/>
            <a:ext cx="0" cy="635000"/>
          </a:xfrm>
          <a:prstGeom prst="line">
            <a:avLst/>
          </a:prstGeom>
          <a:ln w="25400">
            <a:solidFill>
              <a:srgbClr val="F26F2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0922000" y="3894667"/>
            <a:ext cx="0" cy="279400"/>
          </a:xfrm>
          <a:prstGeom prst="line">
            <a:avLst/>
          </a:prstGeom>
          <a:ln w="2540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048000" y="5901267"/>
            <a:ext cx="2455333" cy="423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Times New Roman"/>
              </a:rPr>
              <a:t>Note: Real GFS forecasts only - no future leakage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5800" y="6155267"/>
            <a:ext cx="4402667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Times New Roman"/>
              </a:rPr>
              <a:t>Note: Every setting chosen on 2022 or out-of-fold, never on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0"/>
            <a:ext cx="2252133" cy="10668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13267" y="84667"/>
            <a:ext cx="1278467" cy="829733"/>
          </a:xfrm>
          <a:prstGeom prst="ellipse">
            <a:avLst/>
          </a:prstGeom>
          <a:solidFill>
            <a:srgbClr val="FFFFFF"/>
          </a:solidFill>
          <a:ln w="508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000000"/>
                </a:solidFill>
                <a:latin typeface="Calibri"/>
              </a:rPr>
              <a:t>FAST&amp;</a:t>
            </a:r>
          </a:p>
          <a:p>
            <a:pPr algn="ctr"/>
            <a:r>
              <a:rPr sz="1800">
                <a:solidFill>
                  <a:srgbClr val="000000"/>
                </a:solidFill>
                <a:latin typeface="Calibri"/>
              </a:rPr>
              <a:t>CURIOUS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2667" y="237067"/>
            <a:ext cx="7874000" cy="677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8467"/>
            <a:ext cx="12192000" cy="499533"/>
          </a:xfrm>
          <a:prstGeom prst="rect">
            <a:avLst/>
          </a:prstGeom>
          <a:solidFill>
            <a:srgbClr val="00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402667" y="6443133"/>
            <a:ext cx="3386667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@SIH Idea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43133"/>
            <a:ext cx="423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10267" y="914400"/>
            <a:ext cx="2607733" cy="626533"/>
          </a:xfrm>
          <a:prstGeom prst="roundRect">
            <a:avLst>
              <a:gd name="adj" fmla="val 50000"/>
            </a:avLst>
          </a:prstGeom>
          <a:solidFill>
            <a:srgbClr val="054E3B"/>
          </a:solidFill>
          <a:ln w="50800">
            <a:solidFill>
              <a:srgbClr val="05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10267" y="914400"/>
            <a:ext cx="2607733" cy="6265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33" b="1">
                <a:solidFill>
                  <a:srgbClr val="FFFFFF"/>
                </a:solidFill>
                <a:latin typeface="Times New Roman"/>
              </a:rPr>
              <a:t>FEASIBILITY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49067" y="863600"/>
            <a:ext cx="2607733" cy="626533"/>
          </a:xfrm>
          <a:prstGeom prst="roundRect">
            <a:avLst>
              <a:gd name="adj" fmla="val 50000"/>
            </a:avLst>
          </a:prstGeom>
          <a:solidFill>
            <a:srgbClr val="F26F20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49067" y="863600"/>
            <a:ext cx="2607733" cy="6265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33" b="1">
                <a:solidFill>
                  <a:srgbClr val="FFFFFF"/>
                </a:solidFill>
                <a:latin typeface="Times New Roman"/>
              </a:rPr>
              <a:t>VIABILITY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53667" y="1481667"/>
            <a:ext cx="0" cy="4326466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9600" y="1769533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8933" y="1820333"/>
            <a:ext cx="4826000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Runs in 0.17 s (FAST) to 8.3 s (16-member ensemble) on one T4 GPU, using &lt; 1 GB of memory.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2523067"/>
            <a:ext cx="5139267" cy="905933"/>
          </a:xfrm>
          <a:prstGeom prst="roundRect">
            <a:avLst>
              <a:gd name="adj" fmla="val 12000"/>
            </a:avLst>
          </a:prstGeom>
          <a:solidFill>
            <a:srgbClr val="FFF2EB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8933" y="2573867"/>
            <a:ext cx="4826000" cy="8043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Copernicus GLO-30 elevation layers and a land mask condition the model, capturing terrain effects at panchayat scale.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3513667"/>
            <a:ext cx="5139267" cy="905933"/>
          </a:xfrm>
          <a:prstGeom prst="roundRect">
            <a:avLst>
              <a:gd name="adj" fmla="val 12000"/>
            </a:avLst>
          </a:prstGeom>
          <a:solidFill>
            <a:srgbClr val="DFF0DF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8933" y="3564467"/>
            <a:ext cx="4826000" cy="8043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Uses free, operational GFS forecasts as the input layer, avoiding the need to build a new numerical weather prediction system.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4639733"/>
            <a:ext cx="5139267" cy="1253067"/>
          </a:xfrm>
          <a:prstGeom prst="rect">
            <a:avLst/>
          </a:prstGeom>
          <a:solidFill>
            <a:srgbClr val="FFFFFF"/>
          </a:solidFill>
          <a:ln w="6773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app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644111"/>
            <a:ext cx="5139267" cy="124431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366933" y="1769533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FFF2EB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36267" y="1820333"/>
            <a:ext cx="4826000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Generates fine-resolution 7-day, 6-variable forecasts with calibrated uncertainty ranges.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6933" y="2523067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36267" y="2573867"/>
            <a:ext cx="4826000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Converts GFS into Panchayat-level forecasts, maps and exceedance probabilities.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66933" y="3285067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FFF2EB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36267" y="3335867"/>
            <a:ext cx="4826000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Supports localized agro-weather advisories, Panchayat maps and spatial risk visualization.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66933" y="4064000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36267" y="4114800"/>
            <a:ext cx="4826000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Input-agnostic: NCMRWF or IMD forecasts can replace GFS after retraining on their archives.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66933" y="4842933"/>
            <a:ext cx="5139267" cy="1143000"/>
          </a:xfrm>
          <a:prstGeom prst="roundRect">
            <a:avLst>
              <a:gd name="adj" fmla="val 12000"/>
            </a:avLst>
          </a:prstGeom>
          <a:solidFill>
            <a:srgbClr val="FFF2EB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36267" y="4893733"/>
            <a:ext cx="4826000" cy="1041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600" b="1">
                <a:solidFill>
                  <a:srgbClr val="000000"/>
                </a:solidFill>
                <a:latin typeface="Times New Roman"/>
              </a:rPr>
              <a:t>Scales to any region with the same global data (GFS, CHIRPS, ERA5-Land, GLO-30) by retraining; the current model and demo cover all 234 Gram Panchayats of Mandya.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0"/>
            <a:ext cx="2252133" cy="10668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30200" y="0"/>
            <a:ext cx="1278467" cy="829733"/>
          </a:xfrm>
          <a:prstGeom prst="ellipse">
            <a:avLst/>
          </a:prstGeom>
          <a:solidFill>
            <a:srgbClr val="FFFFFF"/>
          </a:solidFill>
          <a:ln w="508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000000"/>
                </a:solidFill>
                <a:latin typeface="Calibri"/>
              </a:rPr>
              <a:t>FAST&amp;</a:t>
            </a:r>
          </a:p>
          <a:p>
            <a:pPr algn="ctr"/>
            <a:r>
              <a:rPr sz="1800">
                <a:solidFill>
                  <a:srgbClr val="000000"/>
                </a:solidFill>
                <a:latin typeface="Calibri"/>
              </a:rPr>
              <a:t>CURIOUS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2667" y="237067"/>
            <a:ext cx="7874000" cy="677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8467"/>
            <a:ext cx="12192000" cy="499533"/>
          </a:xfrm>
          <a:prstGeom prst="rect">
            <a:avLst/>
          </a:prstGeom>
          <a:solidFill>
            <a:srgbClr val="00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402667" y="6443133"/>
            <a:ext cx="3386667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@SIH Idea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43133"/>
            <a:ext cx="423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45733" y="829733"/>
            <a:ext cx="1862667" cy="431800"/>
          </a:xfrm>
          <a:prstGeom prst="roundRect">
            <a:avLst>
              <a:gd name="adj" fmla="val 50000"/>
            </a:avLst>
          </a:prstGeom>
          <a:solidFill>
            <a:srgbClr val="054E3B"/>
          </a:solidFill>
          <a:ln w="50800">
            <a:solidFill>
              <a:srgbClr val="05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845733" y="829733"/>
            <a:ext cx="1862667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IMPACT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2667" y="3818467"/>
            <a:ext cx="1845733" cy="440267"/>
          </a:xfrm>
          <a:prstGeom prst="roundRect">
            <a:avLst>
              <a:gd name="adj" fmla="val 50000"/>
            </a:avLst>
          </a:prstGeom>
          <a:solidFill>
            <a:srgbClr val="F26F20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862667" y="3818467"/>
            <a:ext cx="1845733" cy="4402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BENEFITS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200" y="1346200"/>
            <a:ext cx="5139267" cy="838200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99533" y="1397000"/>
            <a:ext cx="4868333" cy="736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Panchayat-level forecasts for all 234 Gram Panchayats of Mandya, validated on the unseen 2023 monsoon.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200" y="2269067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FFF2EB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99533" y="2319867"/>
            <a:ext cx="4868333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Hyper-local weather information (0.25° → 0.05°)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200" y="3031067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99533" y="3081867"/>
            <a:ext cx="4868333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Beats raw GFS at Panchayat level: wet-day rain error −20 %, Tmax error −24 %.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200" y="4368800"/>
            <a:ext cx="5139267" cy="838200"/>
          </a:xfrm>
          <a:prstGeom prst="roundRect">
            <a:avLst>
              <a:gd name="adj" fmla="val 12000"/>
            </a:avLst>
          </a:prstGeom>
          <a:solidFill>
            <a:srgbClr val="FFF2EB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9533" y="4419600"/>
            <a:ext cx="4868333" cy="736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6-Variable, 7-Day Forecasts: Joint precipitation, temperature, humidity and wind information provides richer agricultural context than rainfall alone.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0200" y="5291667"/>
            <a:ext cx="5139267" cy="838200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99533" y="5342467"/>
            <a:ext cx="4868333" cy="736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Calibrated Uncertainty: 5–95 % ranges cover 88 % of outcomes, and heavy-rain maps double the detection of ≥ 64.5 mm days.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1261533"/>
            <a:ext cx="5537200" cy="2463800"/>
          </a:xfrm>
          <a:prstGeom prst="rect">
            <a:avLst/>
          </a:prstGeom>
          <a:solidFill>
            <a:srgbClr val="FFFFFF"/>
          </a:solidFill>
          <a:ln w="6773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proof_slid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459823"/>
            <a:ext cx="5537200" cy="2067221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248400" y="3793067"/>
            <a:ext cx="5537200" cy="2413000"/>
          </a:xfrm>
          <a:prstGeom prst="rect">
            <a:avLst/>
          </a:prstGeom>
          <a:solidFill>
            <a:srgbClr val="FFFFFF"/>
          </a:solidFill>
          <a:ln w="67733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app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670" y="3793067"/>
            <a:ext cx="5524659" cy="2413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9000" y="0"/>
            <a:ext cx="2252133" cy="10668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13267" y="84667"/>
            <a:ext cx="1278467" cy="829733"/>
          </a:xfrm>
          <a:prstGeom prst="ellipse">
            <a:avLst/>
          </a:prstGeom>
          <a:solidFill>
            <a:srgbClr val="FFFFFF"/>
          </a:solidFill>
          <a:ln w="50800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>
                <a:solidFill>
                  <a:srgbClr val="000000"/>
                </a:solidFill>
                <a:latin typeface="Calibri"/>
              </a:rPr>
              <a:t>FAST&amp;</a:t>
            </a:r>
          </a:p>
          <a:p>
            <a:pPr algn="ctr"/>
            <a:r>
              <a:rPr sz="1800">
                <a:solidFill>
                  <a:srgbClr val="000000"/>
                </a:solidFill>
                <a:latin typeface="Calibri"/>
              </a:rPr>
              <a:t>CURIOUS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2667" y="237067"/>
            <a:ext cx="7874000" cy="677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8467"/>
            <a:ext cx="12192000" cy="499533"/>
          </a:xfrm>
          <a:prstGeom prst="rect">
            <a:avLst/>
          </a:prstGeom>
          <a:solidFill>
            <a:srgbClr val="00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402667" y="6443133"/>
            <a:ext cx="3386667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@SIH Idea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0" y="6443133"/>
            <a:ext cx="423333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10733"/>
            <a:ext cx="4944533" cy="524933"/>
          </a:xfrm>
          <a:prstGeom prst="roundRect">
            <a:avLst>
              <a:gd name="adj" fmla="val 50000"/>
            </a:avLst>
          </a:prstGeom>
          <a:solidFill>
            <a:srgbClr val="054E3B"/>
          </a:solidFill>
          <a:ln w="50800">
            <a:solidFill>
              <a:srgbClr val="05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1210733"/>
            <a:ext cx="4944533" cy="524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66" b="1">
                <a:solidFill>
                  <a:srgbClr val="FFFFFF"/>
                </a:solidFill>
                <a:latin typeface="Times New Roman"/>
              </a:rPr>
              <a:t>DATASETS &amp; PROJECT BASES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3133" y="1253067"/>
            <a:ext cx="5063067" cy="474133"/>
          </a:xfrm>
          <a:prstGeom prst="roundRect">
            <a:avLst>
              <a:gd name="adj" fmla="val 50000"/>
            </a:avLst>
          </a:prstGeom>
          <a:solidFill>
            <a:srgbClr val="F26F20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3133" y="1253067"/>
            <a:ext cx="5063067" cy="4741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66" b="1">
                <a:solidFill>
                  <a:srgbClr val="FFFFFF"/>
                </a:solidFill>
                <a:latin typeface="Times New Roman"/>
              </a:rPr>
              <a:t>KEY METHODOLOGICAL REFERENCES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9867" y="1473200"/>
            <a:ext cx="0" cy="4326467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1930400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5133" y="1981200"/>
            <a:ext cx="4868333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NOAA GFS 0.25° operational forecasts (AWS Open Data, NCAR RDA ds084.1); model input.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34733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FFF2EB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5133" y="2785533"/>
            <a:ext cx="4868333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CHIRPS v2.0 0.05° daily precipitation (Funk et al., 2015); high-res rain target.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56000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5133" y="3606800"/>
            <a:ext cx="4868333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Copernicus DEM GLO-30 30m DEM; terrain conditioning (elevation layers, land mask).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51867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FFF2EB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55133" y="4402667"/>
            <a:ext cx="4868333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ERA5 history &amp; ERA5-Land 0.1° (Tmax, Tmin, RH, U, V) targets; Hersbach et al. 2020.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56200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5133" y="5207000"/>
            <a:ext cx="4868333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Panchayat Boundaries &amp; LGD Codes for Mandya, Karnataka (234 Gram Panchayats).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3133" y="1930400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FFF2EB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12467" y="1981200"/>
            <a:ext cx="4868333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Mardani et al. (2025) CorrDiff: residual corrective diffusion for km-scale downscaling. Commun. Earth Environ.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3133" y="2734733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12467" y="2785533"/>
            <a:ext cx="4868333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Ho, Jain &amp; Abbeel (2020) DDPM: basis for the residual diffusion component. NeurIPS 2020.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3133" y="3556000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FFF2EB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12467" y="3606800"/>
            <a:ext cx="4868333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Lu et al. (2022) DPM-Solver++: fast sampling of diffusion models. arXiv:2211.01095.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3133" y="4351867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E9F6ED"/>
          </a:solidFill>
          <a:ln w="50800">
            <a:solidFill>
              <a:srgbClr val="0E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612467" y="4402667"/>
            <a:ext cx="4868333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Fedus, Zoph &amp; Shazeer (2022) Switch Transformers: sparse Mixture-of-Experts. JMLR 23.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3133" y="5156200"/>
            <a:ext cx="5139267" cy="677333"/>
          </a:xfrm>
          <a:prstGeom prst="roundRect">
            <a:avLst>
              <a:gd name="adj" fmla="val 12000"/>
            </a:avLst>
          </a:prstGeom>
          <a:solidFill>
            <a:srgbClr val="FFF2EB"/>
          </a:solidFill>
          <a:ln w="50800">
            <a:solidFill>
              <a:srgbClr val="F26F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612467" y="5207000"/>
            <a:ext cx="4868333" cy="5757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20133" indent="-186267">
              <a:lnSpc>
                <a:spcPct val="95000"/>
              </a:lnSpc>
              <a:spcAft>
                <a:spcPts val="0"/>
              </a:spcAft>
              <a:buFont typeface="Arial"/>
              <a:buChar char="•"/>
            </a:pPr>
            <a:r>
              <a:rPr sz="1466" b="1">
                <a:solidFill>
                  <a:srgbClr val="000000"/>
                </a:solidFill>
                <a:latin typeface="Times New Roman"/>
              </a:rPr>
              <a:t>Vandal et al. (2017) DeepSD: High-res climate projections via image super-resolution. KDD 2017.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952067"/>
            <a:ext cx="108966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33" b="1">
                <a:solidFill>
                  <a:srgbClr val="0E4F8A"/>
                </a:solidFill>
                <a:latin typeface="Times New Roman"/>
              </a:rPr>
              <a:t>Code, model weights &amp; reports: </a:t>
            </a:r>
            <a:r>
              <a:rPr sz="1333" b="0">
                <a:solidFill>
                  <a:srgbClr val="0E4F8A"/>
                </a:solidFill>
                <a:latin typeface="Times New Roman"/>
              </a:rPr>
              <a:t>github.com/rohzhegde26/SIH-26074-Fast-and-Curious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