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" charset="1" panose="020B0604020202020204"/>
      <p:regular r:id="rId18"/>
    </p:embeddedFont>
    <p:embeddedFont>
      <p:font typeface="Times New Roman" charset="1" panose="02020603050405020304"/>
      <p:regular r:id="rId19"/>
    </p:embeddedFont>
    <p:embeddedFont>
      <p:font typeface="Arimo Bold" charset="1" panose="020B07040202020202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88369" y="1870785"/>
            <a:ext cx="17456534" cy="796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SIH26086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Hyperlocal Monsoon Onset &amp; Break Prediction System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Agriculture,FoodTech &amp; Rural Development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- 173900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FAST&amp;CURIOUS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393527"/>
            <a:ext cx="18288000" cy="1839893"/>
            <a:chOff x="0" y="0"/>
            <a:chExt cx="24384000" cy="24531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453190"/>
            </a:xfrm>
            <a:custGeom>
              <a:avLst/>
              <a:gdLst/>
              <a:ahLst/>
              <a:cxnLst/>
              <a:rect r="r" b="b" t="t" l="l"/>
              <a:pathLst>
                <a:path h="245319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53190"/>
                  </a:lnTo>
                  <a:lnTo>
                    <a:pt x="0" y="24531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715" r="10000" b="-1209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4384000" cy="248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Monsoon Outlook</a:t>
              </a:r>
            </a:p>
            <a:p>
              <a:pPr algn="ctr" marL="0" indent="0" lvl="0">
                <a:lnSpc>
                  <a:spcPts val="24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16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5300" y="114300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554516" cy="1684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FAST&amp;</a:t>
              </a:r>
            </a:p>
            <a:p>
              <a:pPr algn="ctr" marL="0" indent="0" lvl="0">
                <a:lnSpc>
                  <a:spcPts val="3240"/>
                </a:lnSpc>
                <a:spcBef>
                  <a:spcPct val="0"/>
                </a:spcBef>
              </a:pPr>
              <a:r>
                <a:rPr lang="en-US" sz="27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CURIOUS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446935" y="976627"/>
            <a:ext cx="885061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Daily 1–4 week probabilistic monsoon outlook for every gram panchayat, turned into farmer advisories in Kannada &amp; English.</a:t>
            </a:r>
          </a:p>
        </p:txBody>
      </p:sp>
      <p:sp>
        <p:nvSpPr>
          <p:cNvPr name="Freeform 19" id="19" descr="Problem and solution, six capability tiles, and a phone screenshot of the app's Kannada farmer view"/>
          <p:cNvSpPr/>
          <p:nvPr/>
        </p:nvSpPr>
        <p:spPr>
          <a:xfrm flipH="false" flipV="false" rot="0">
            <a:off x="381000" y="1790700"/>
            <a:ext cx="17526000" cy="7620000"/>
          </a:xfrm>
          <a:custGeom>
            <a:avLst/>
            <a:gdLst/>
            <a:ahLst/>
            <a:cxnLst/>
            <a:rect r="r" b="b" t="t" l="l"/>
            <a:pathLst>
              <a:path h="7620000" w="17526000">
                <a:moveTo>
                  <a:pt x="0" y="0"/>
                </a:moveTo>
                <a:lnTo>
                  <a:pt x="17526000" y="0"/>
                </a:lnTo>
                <a:lnTo>
                  <a:pt x="175260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9" t="0" r="-119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0838" y="94187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FAST&amp;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CURIOUS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 descr="Five-step pipeline from inputs to advisories, validation protocol and tech stack"/>
          <p:cNvSpPr/>
          <p:nvPr/>
        </p:nvSpPr>
        <p:spPr>
          <a:xfrm flipH="false" flipV="false" rot="0">
            <a:off x="381000" y="1790700"/>
            <a:ext cx="17526000" cy="7620000"/>
          </a:xfrm>
          <a:custGeom>
            <a:avLst/>
            <a:gdLst/>
            <a:ahLst/>
            <a:cxnLst/>
            <a:rect r="r" b="b" t="t" l="l"/>
            <a:pathLst>
              <a:path h="7620000" w="17526000">
                <a:moveTo>
                  <a:pt x="0" y="0"/>
                </a:moveTo>
                <a:lnTo>
                  <a:pt x="17526000" y="0"/>
                </a:lnTo>
                <a:lnTo>
                  <a:pt x="175260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9" t="0" r="-119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12882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FAST&amp;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CURIOUS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 descr="Feasibility KPIs, key challenges with mitigations, and calibration of the forecasts"/>
          <p:cNvSpPr/>
          <p:nvPr/>
        </p:nvSpPr>
        <p:spPr>
          <a:xfrm flipH="false" flipV="false" rot="0">
            <a:off x="381000" y="1790700"/>
            <a:ext cx="17526000" cy="7620000"/>
          </a:xfrm>
          <a:custGeom>
            <a:avLst/>
            <a:gdLst/>
            <a:ahLst/>
            <a:cxnLst/>
            <a:rect r="r" b="b" t="t" l="l"/>
            <a:pathLst>
              <a:path h="7620000" w="17526000">
                <a:moveTo>
                  <a:pt x="0" y="0"/>
                </a:moveTo>
                <a:lnTo>
                  <a:pt x="17526000" y="0"/>
                </a:lnTo>
                <a:lnTo>
                  <a:pt x="175260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9" t="0" r="-119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7354" y="0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FAST&amp;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CURIOUS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 descr="Validated forecast skill table, stakeholder benefits, and a screenshot of the app's panchayat risk map"/>
          <p:cNvSpPr/>
          <p:nvPr/>
        </p:nvSpPr>
        <p:spPr>
          <a:xfrm flipH="false" flipV="false" rot="0">
            <a:off x="381000" y="1790700"/>
            <a:ext cx="17526000" cy="7620000"/>
          </a:xfrm>
          <a:custGeom>
            <a:avLst/>
            <a:gdLst/>
            <a:ahLst/>
            <a:cxnLst/>
            <a:rect r="r" b="b" t="t" l="l"/>
            <a:pathLst>
              <a:path h="7620000" w="17526000">
                <a:moveTo>
                  <a:pt x="0" y="0"/>
                </a:moveTo>
                <a:lnTo>
                  <a:pt x="17526000" y="0"/>
                </a:lnTo>
                <a:lnTo>
                  <a:pt x="175260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9" t="0" r="-119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</a:t>
              </a: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128829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FAST&amp;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CURIOUS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 descr="Scientific references and open datasets used"/>
          <p:cNvSpPr/>
          <p:nvPr/>
        </p:nvSpPr>
        <p:spPr>
          <a:xfrm flipH="false" flipV="false" rot="0">
            <a:off x="381000" y="1790700"/>
            <a:ext cx="17526000" cy="7620000"/>
          </a:xfrm>
          <a:custGeom>
            <a:avLst/>
            <a:gdLst/>
            <a:ahLst/>
            <a:cxnLst/>
            <a:rect r="r" b="b" t="t" l="l"/>
            <a:pathLst>
              <a:path h="7620000" w="17526000">
                <a:moveTo>
                  <a:pt x="0" y="0"/>
                </a:moveTo>
                <a:lnTo>
                  <a:pt x="17526000" y="0"/>
                </a:lnTo>
                <a:lnTo>
                  <a:pt x="175260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9" t="0" r="-119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DAHXDrzqOlg</dc:identifier>
  <dcterms:modified xsi:type="dcterms:W3CDTF">2011-08-01T06:04:30Z</dcterms:modified>
  <cp:revision>1</cp:revision>
  <dc:title>SIH26086 - Monsoon Outlook - FAST&amp;CURIOUS</dc:title>
</cp:coreProperties>
</file>