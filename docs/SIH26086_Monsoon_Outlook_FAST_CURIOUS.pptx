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notesMaster+xml" PartName="/ppt/notesMasters/notesMaster1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5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notesMasterIdLst>
    <p:notesMasterId r:id="rId15"/>
  </p:notesMasterIdLst>
  <p:sldIdLst>
    <p:sldId id="256" r:id="rId6"/>
    <p:sldId id="257" r:id="rId7"/>
    <p:sldId id="258" r:id="rId8"/>
    <p:sldId id="259" r:id="rId9"/>
    <p:sldId id="260" r:id="rId10"/>
    <p:sldId id="261" r:id="rId11"/>
  </p:sldIdLst>
  <p:sldSz cx="18288000" cy="10287000"/>
  <p:notesSz cx="6858000" cy="9144000"/>
  <p:embeddedFontLst>
    <p:embeddedFont>
      <p:font typeface="Times New Roman Bold" charset="1" panose="02020803070505020304"/>
      <p:regular r:id="rId12"/>
    </p:embeddedFont>
    <p:embeddedFont>
      <p:font typeface="Garamond Bold" charset="1" panose="02020804030307010803"/>
      <p:regular r:id="rId13"/>
    </p:embeddedFont>
    <p:embeddedFont>
      <p:font typeface="Arial Bold" charset="1" panose="020B0704020202020204"/>
      <p:regular r:id="rId14"/>
    </p:embeddedFont>
    <p:embeddedFont>
      <p:font typeface="Arimo" charset="1" panose="020B0604020202020204"/>
      <p:regular r:id="rId18"/>
    </p:embeddedFont>
    <p:embeddedFont>
      <p:font typeface="Times New Roman" charset="1" panose="02020603050405020304"/>
      <p:regular r:id="rId19"/>
    </p:embeddedFont>
    <p:embeddedFont>
      <p:font typeface="Arimo Bold" charset="1" panose="020B0704020202020204"/>
      <p:regular r:id="rId21"/>
    </p:embeddedFont>
    <p:embeddedFont>
      <p:font typeface="Calibri (MS)" charset="1" panose="020F0502020204030204"/>
      <p:regular r:id="rId2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fonts/font12.fntdata" Type="http://schemas.openxmlformats.org/officeDocument/2006/relationships/font"/><Relationship Id="rId13" Target="fonts/font13.fntdata" Type="http://schemas.openxmlformats.org/officeDocument/2006/relationships/font"/><Relationship Id="rId14" Target="fonts/font14.fntdata" Type="http://schemas.openxmlformats.org/officeDocument/2006/relationships/font"/><Relationship Id="rId15" Target="notesMasters/notesMaster1.xml" Type="http://schemas.openxmlformats.org/officeDocument/2006/relationships/notesMaster"/><Relationship Id="rId16" Target="theme/theme2.xml" Type="http://schemas.openxmlformats.org/officeDocument/2006/relationships/theme"/><Relationship Id="rId17" Target="notesSlides/notesSlide1.xml" Type="http://schemas.openxmlformats.org/officeDocument/2006/relationships/notesSlide"/><Relationship Id="rId18" Target="fonts/font18.fntdata" Type="http://schemas.openxmlformats.org/officeDocument/2006/relationships/font"/><Relationship Id="rId19" Target="fonts/font19.fntdata" Type="http://schemas.openxmlformats.org/officeDocument/2006/relationships/font"/><Relationship Id="rId2" Target="presProps.xml" Type="http://schemas.openxmlformats.org/officeDocument/2006/relationships/presProps"/><Relationship Id="rId20" Target="notesSlides/notesSlide2.xml" Type="http://schemas.openxmlformats.org/officeDocument/2006/relationships/notesSlide"/><Relationship Id="rId21" Target="fonts/font21.fntdata" Type="http://schemas.openxmlformats.org/officeDocument/2006/relationships/font"/><Relationship Id="rId22" Target="fonts/font22.fntdata" Type="http://schemas.openxmlformats.org/officeDocument/2006/relationships/font"/><Relationship Id="rId23" Target="notesSlides/notesSlide3.xml" Type="http://schemas.openxmlformats.org/officeDocument/2006/relationships/notesSlide"/><Relationship Id="rId24" Target="notesSlides/notesSlide4.xml" Type="http://schemas.openxmlformats.org/officeDocument/2006/relationships/notesSlide"/><Relationship Id="rId25" Target="notesSlides/notesSlide5.xml" Type="http://schemas.openxmlformats.org/officeDocument/2006/relationships/notesSlide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notesMasters/_rels/notesMaster1.xml.rels><?xml version="1.0" encoding="UTF-8" standalone="yes"?><Relationships xmlns="http://schemas.openxmlformats.org/package/2006/relationships"><Relationship Id="rId1" Target="../theme/theme2.xml" Type="http://schemas.openxmlformats.org/officeDocument/2006/relationships/theme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2.xml" Type="http://schemas.openxmlformats.org/officeDocument/2006/relationships/slide"/></Relationships>
</file>

<file path=ppt/notesSlides/_rels/notesSlide2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3.xml" Type="http://schemas.openxmlformats.org/officeDocument/2006/relationships/slide"/></Relationships>
</file>

<file path=ppt/notesSlides/_rels/notesSlide3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4.xml" Type="http://schemas.openxmlformats.org/officeDocument/2006/relationships/slide"/></Relationships>
</file>

<file path=ppt/notesSlides/_rels/notesSlide4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5.xml" Type="http://schemas.openxmlformats.org/officeDocument/2006/relationships/slide"/></Relationships>
</file>

<file path=ppt/notesSlides/_rels/notesSlide5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6.xml" Type="http://schemas.openxmlformats.org/officeDocument/2006/relationships/slide"/></Relationships>
</file>

<file path=ppt/notesSlides/notesSlide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2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3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4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4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4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jpeg" Type="http://schemas.openxmlformats.org/officeDocument/2006/relationships/image"/><Relationship Id="rId6" Target="../media/image5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.xml" Type="http://schemas.openxmlformats.org/officeDocument/2006/relationships/notesSlide"/><Relationship Id="rId3" Target="../media/image4.jpeg" Type="http://schemas.openxmlformats.org/officeDocument/2006/relationships/image"/><Relationship Id="rId4" Target="../media/image5.png" Type="http://schemas.openxmlformats.org/officeDocument/2006/relationships/image"/><Relationship Id="rId5" Target="../media/image6.pn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2.xml" Type="http://schemas.openxmlformats.org/officeDocument/2006/relationships/notesSlide"/><Relationship Id="rId3" Target="../media/image4.jpeg" Type="http://schemas.openxmlformats.org/officeDocument/2006/relationships/image"/><Relationship Id="rId4" Target="../media/image5.png" Type="http://schemas.openxmlformats.org/officeDocument/2006/relationships/image"/><Relationship Id="rId5" Target="../media/image7.pn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3.xml" Type="http://schemas.openxmlformats.org/officeDocument/2006/relationships/notesSlide"/><Relationship Id="rId3" Target="../media/image4.jpeg" Type="http://schemas.openxmlformats.org/officeDocument/2006/relationships/image"/><Relationship Id="rId4" Target="../media/image5.png" Type="http://schemas.openxmlformats.org/officeDocument/2006/relationships/image"/><Relationship Id="rId5" Target="../media/image8.pn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4.xml" Type="http://schemas.openxmlformats.org/officeDocument/2006/relationships/notesSlide"/><Relationship Id="rId3" Target="../media/image4.jpeg" Type="http://schemas.openxmlformats.org/officeDocument/2006/relationships/image"/><Relationship Id="rId4" Target="../media/image5.png" Type="http://schemas.openxmlformats.org/officeDocument/2006/relationships/image"/><Relationship Id="rId5" Target="../media/image9.pn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5.xml" Type="http://schemas.openxmlformats.org/officeDocument/2006/relationships/notesSlide"/><Relationship Id="rId3" Target="../media/image4.jpeg" Type="http://schemas.openxmlformats.org/officeDocument/2006/relationships/image"/><Relationship Id="rId4" Target="../media/image5.png" Type="http://schemas.openxmlformats.org/officeDocument/2006/relationships/image"/><Relationship Id="rId5" Target="../media/image10.pn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8485165" y="1277283"/>
            <a:ext cx="6957908" cy="7732452"/>
          </a:xfrm>
          <a:custGeom>
            <a:avLst/>
            <a:gdLst/>
            <a:ahLst/>
            <a:cxnLst/>
            <a:rect r="r" b="b" t="t" l="l"/>
            <a:pathLst>
              <a:path h="7732452" w="6957908">
                <a:moveTo>
                  <a:pt x="0" y="0"/>
                </a:moveTo>
                <a:lnTo>
                  <a:pt x="6957908" y="0"/>
                </a:lnTo>
                <a:lnTo>
                  <a:pt x="6957908" y="7732453"/>
                </a:lnTo>
                <a:lnTo>
                  <a:pt x="0" y="773245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10282333" y="2573817"/>
            <a:ext cx="4805267" cy="5139357"/>
            <a:chOff x="0" y="0"/>
            <a:chExt cx="6407023" cy="685247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6407023" cy="6852412"/>
            </a:xfrm>
            <a:custGeom>
              <a:avLst/>
              <a:gdLst/>
              <a:ahLst/>
              <a:cxnLst/>
              <a:rect r="r" b="b" t="t" l="l"/>
              <a:pathLst>
                <a:path h="6852412" w="6407023">
                  <a:moveTo>
                    <a:pt x="0" y="0"/>
                  </a:moveTo>
                  <a:lnTo>
                    <a:pt x="6407023" y="0"/>
                  </a:lnTo>
                  <a:lnTo>
                    <a:pt x="6407023" y="6852412"/>
                  </a:lnTo>
                  <a:lnTo>
                    <a:pt x="0" y="685241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-149475" b="-1"/>
              </a:stretch>
            </a:blipFill>
          </p:spPr>
        </p:sp>
      </p:grpSp>
      <p:sp>
        <p:nvSpPr>
          <p:cNvPr name="TextBox 5" id="5"/>
          <p:cNvSpPr txBox="true"/>
          <p:nvPr/>
        </p:nvSpPr>
        <p:spPr>
          <a:xfrm rot="0">
            <a:off x="1959969" y="990067"/>
            <a:ext cx="12618720" cy="25660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759"/>
              </a:lnSpc>
            </a:pPr>
          </a:p>
          <a:p>
            <a:pPr algn="ctr">
              <a:lnSpc>
                <a:spcPts val="5759"/>
              </a:lnSpc>
            </a:pPr>
            <a:r>
              <a:rPr lang="en-US" sz="4800" b="true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TITLE PAGE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496929" y="-790137"/>
            <a:ext cx="15544800" cy="3114675"/>
            <a:chOff x="0" y="0"/>
            <a:chExt cx="20726400" cy="41529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0726400" cy="4152900"/>
            </a:xfrm>
            <a:custGeom>
              <a:avLst/>
              <a:gdLst/>
              <a:ahLst/>
              <a:cxnLst/>
              <a:rect r="r" b="b" t="t" l="l"/>
              <a:pathLst>
                <a:path h="4152900" w="20726400">
                  <a:moveTo>
                    <a:pt x="0" y="0"/>
                  </a:moveTo>
                  <a:lnTo>
                    <a:pt x="20726400" y="0"/>
                  </a:lnTo>
                  <a:lnTo>
                    <a:pt x="20726400" y="4152900"/>
                  </a:lnTo>
                  <a:lnTo>
                    <a:pt x="0" y="415290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47246" r="0" b="-47246"/>
              </a:stretch>
            </a:blipFill>
          </p:spPr>
        </p:sp>
        <p:sp>
          <p:nvSpPr>
            <p:cNvPr name="TextBox 8" id="8"/>
            <p:cNvSpPr txBox="true"/>
            <p:nvPr/>
          </p:nvSpPr>
          <p:spPr>
            <a:xfrm>
              <a:off x="0" y="-19050"/>
              <a:ext cx="20726400" cy="417195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7200"/>
                </a:lnSpc>
              </a:pPr>
              <a:r>
                <a:rPr lang="en-US" sz="6000" b="true">
                  <a:solidFill>
                    <a:srgbClr val="1F497D"/>
                  </a:solidFill>
                  <a:latin typeface="Garamond Bold"/>
                  <a:ea typeface="Garamond Bold"/>
                  <a:cs typeface="Garamond Bold"/>
                  <a:sym typeface="Garamond Bold"/>
                </a:rPr>
                <a:t>SMART INDIA HACKATHON 2026</a:t>
              </a:r>
            </a:p>
          </p:txBody>
        </p:sp>
      </p:grpSp>
      <p:sp>
        <p:nvSpPr>
          <p:cNvPr name="TextBox 9" id="9"/>
          <p:cNvSpPr txBox="true"/>
          <p:nvPr/>
        </p:nvSpPr>
        <p:spPr>
          <a:xfrm rot="0">
            <a:off x="588369" y="1870785"/>
            <a:ext cx="17456534" cy="79648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320"/>
              </a:lnSpc>
            </a:pPr>
          </a:p>
          <a:p>
            <a:pPr algn="just" marL="651510" indent="-325755" lvl="1">
              <a:lnSpc>
                <a:spcPts val="8640"/>
              </a:lnSpc>
              <a:buFont typeface="Arial"/>
              <a:buChar char="•"/>
            </a:pPr>
            <a:r>
              <a:rPr lang="en-US" b="true" sz="3600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Problem Statement ID – SIH26086</a:t>
            </a:r>
          </a:p>
          <a:p>
            <a:pPr algn="just" marL="651510" indent="-325755" lvl="1">
              <a:lnSpc>
                <a:spcPts val="8640"/>
              </a:lnSpc>
              <a:buFont typeface="Arial"/>
              <a:buChar char="•"/>
            </a:pPr>
            <a:r>
              <a:rPr lang="en-US" b="true" sz="3600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Problem Statement Title - Hyperlocal Monsoon Onset &amp; Break Prediction System</a:t>
            </a:r>
          </a:p>
          <a:p>
            <a:pPr algn="just" marL="651510" indent="-325755" lvl="1">
              <a:lnSpc>
                <a:spcPts val="8640"/>
              </a:lnSpc>
              <a:buFont typeface="Arial"/>
              <a:buChar char="•"/>
            </a:pPr>
            <a:r>
              <a:rPr lang="en-US" b="true" sz="3600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Theme- Agriculture,FoodTech &amp; Rural Development</a:t>
            </a:r>
          </a:p>
          <a:p>
            <a:pPr algn="just" marL="651510" indent="-325755" lvl="1">
              <a:lnSpc>
                <a:spcPts val="8640"/>
              </a:lnSpc>
              <a:buFont typeface="Arial"/>
              <a:buChar char="•"/>
            </a:pPr>
            <a:r>
              <a:rPr lang="en-US" b="true" sz="3600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PS Category- Software</a:t>
            </a:r>
          </a:p>
          <a:p>
            <a:pPr algn="just" marL="651510" indent="-325755" lvl="1">
              <a:lnSpc>
                <a:spcPts val="8640"/>
              </a:lnSpc>
              <a:buFont typeface="Arial"/>
              <a:buChar char="•"/>
            </a:pPr>
            <a:r>
              <a:rPr lang="en-US" b="true" sz="3600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Team ID - 173900</a:t>
            </a:r>
          </a:p>
          <a:p>
            <a:pPr algn="just" marL="651510" indent="-325755" lvl="1">
              <a:lnSpc>
                <a:spcPts val="8640"/>
              </a:lnSpc>
              <a:buFont typeface="Arial"/>
              <a:buChar char="•"/>
            </a:pPr>
            <a:r>
              <a:rPr lang="en-US" b="true" sz="3600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Team Name - FAST&amp;CURIOUS</a:t>
            </a:r>
          </a:p>
        </p:txBody>
      </p:sp>
      <p:grpSp>
        <p:nvGrpSpPr>
          <p:cNvPr name="Group 10" id="10"/>
          <p:cNvGrpSpPr/>
          <p:nvPr/>
        </p:nvGrpSpPr>
        <p:grpSpPr>
          <a:xfrm rot="0">
            <a:off x="14670129" y="2248"/>
            <a:ext cx="3374774" cy="1593504"/>
            <a:chOff x="0" y="0"/>
            <a:chExt cx="4499699" cy="2124672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4499737" cy="2124710"/>
            </a:xfrm>
            <a:custGeom>
              <a:avLst/>
              <a:gdLst/>
              <a:ahLst/>
              <a:cxnLst/>
              <a:rect r="r" b="b" t="t" l="l"/>
              <a:pathLst>
                <a:path h="2124710" w="4499737">
                  <a:moveTo>
                    <a:pt x="0" y="0"/>
                  </a:moveTo>
                  <a:lnTo>
                    <a:pt x="4499737" y="0"/>
                  </a:lnTo>
                  <a:lnTo>
                    <a:pt x="4499737" y="2124710"/>
                  </a:lnTo>
                  <a:lnTo>
                    <a:pt x="0" y="21247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0" b="1"/>
              </a:stretch>
            </a:blipFill>
          </p:spPr>
        </p:sp>
      </p:grp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9532144"/>
            <a:ext cx="18288000" cy="754856"/>
            <a:chOff x="0" y="0"/>
            <a:chExt cx="24384000" cy="100647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006475"/>
            </a:xfrm>
            <a:custGeom>
              <a:avLst/>
              <a:gdLst/>
              <a:ahLst/>
              <a:cxnLst/>
              <a:rect r="r" b="b" t="t" l="l"/>
              <a:pathLst>
                <a:path h="1006475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006475"/>
                  </a:lnTo>
                  <a:lnTo>
                    <a:pt x="0" y="1006475"/>
                  </a:lnTo>
                  <a:close/>
                </a:path>
              </a:pathLst>
            </a:custGeom>
            <a:solidFill>
              <a:srgbClr val="0070C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-393527"/>
            <a:ext cx="18288000" cy="1839893"/>
            <a:chOff x="0" y="0"/>
            <a:chExt cx="24384000" cy="245319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384000" cy="2453190"/>
            </a:xfrm>
            <a:custGeom>
              <a:avLst/>
              <a:gdLst/>
              <a:ahLst/>
              <a:cxnLst/>
              <a:rect r="r" b="b" t="t" l="l"/>
              <a:pathLst>
                <a:path h="245319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2453190"/>
                  </a:lnTo>
                  <a:lnTo>
                    <a:pt x="0" y="245319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27715" r="10000" b="-120900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-28575"/>
              <a:ext cx="24384000" cy="24817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 marL="0" indent="0" lvl="0">
                <a:lnSpc>
                  <a:spcPts val="4320"/>
                </a:lnSpc>
                <a:spcBef>
                  <a:spcPct val="0"/>
                </a:spcBef>
              </a:pPr>
            </a:p>
            <a:p>
              <a:pPr algn="ctr" marL="0" indent="0" lvl="0">
                <a:lnSpc>
                  <a:spcPts val="4320"/>
                </a:lnSpc>
                <a:spcBef>
                  <a:spcPct val="0"/>
                </a:spcBef>
              </a:pPr>
              <a:r>
                <a:rPr lang="en-US" b="true" sz="3600" strike="noStrike" u="none">
                  <a:solidFill>
                    <a:srgbClr val="000000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Monsoon Outlook</a:t>
              </a:r>
            </a:p>
            <a:p>
              <a:pPr algn="ctr" marL="0" indent="0" lvl="0">
                <a:lnSpc>
                  <a:spcPts val="2400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3106400" y="9534525"/>
            <a:ext cx="4267200" cy="547688"/>
            <a:chOff x="0" y="0"/>
            <a:chExt cx="5689600" cy="73025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5689600" cy="730250"/>
            </a:xfrm>
            <a:custGeom>
              <a:avLst/>
              <a:gdLst/>
              <a:ahLst/>
              <a:cxnLst/>
              <a:rect r="r" b="b" t="t" l="l"/>
              <a:pathLst>
                <a:path h="730250" w="5689600">
                  <a:moveTo>
                    <a:pt x="0" y="0"/>
                  </a:moveTo>
                  <a:lnTo>
                    <a:pt x="5689600" y="0"/>
                  </a:lnTo>
                  <a:lnTo>
                    <a:pt x="56896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1813" r="0" b="-101813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19050"/>
              <a:ext cx="5689600" cy="7493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 marL="0" indent="0" lvl="0">
                <a:lnSpc>
                  <a:spcPts val="2160"/>
                </a:lnSpc>
                <a:spcBef>
                  <a:spcPct val="0"/>
                </a:spcBef>
              </a:pPr>
              <a:r>
                <a:rPr lang="en-US" sz="1800" strike="noStrike" u="none">
                  <a:solidFill>
                    <a:srgbClr val="FFFFFF"/>
                  </a:solidFill>
                  <a:latin typeface="Arimo"/>
                  <a:ea typeface="Arimo"/>
                  <a:cs typeface="Arimo"/>
                  <a:sym typeface="Arimo"/>
                </a:rPr>
                <a:t>2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972300" y="9534525"/>
            <a:ext cx="4806001" cy="547688"/>
            <a:chOff x="0" y="0"/>
            <a:chExt cx="6408001" cy="73025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6408000" cy="730250"/>
            </a:xfrm>
            <a:custGeom>
              <a:avLst/>
              <a:gdLst/>
              <a:ahLst/>
              <a:cxnLst/>
              <a:rect r="r" b="b" t="t" l="l"/>
              <a:pathLst>
                <a:path h="730250" w="6408000">
                  <a:moveTo>
                    <a:pt x="0" y="0"/>
                  </a:moveTo>
                  <a:lnTo>
                    <a:pt x="6408000" y="0"/>
                  </a:lnTo>
                  <a:lnTo>
                    <a:pt x="64080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20982" r="0" b="-120982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19050"/>
              <a:ext cx="6408001" cy="7493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 marL="0" indent="0" lvl="0">
                <a:lnSpc>
                  <a:spcPts val="2160"/>
                </a:lnSpc>
                <a:spcBef>
                  <a:spcPct val="0"/>
                </a:spcBef>
              </a:pPr>
              <a:r>
                <a:rPr lang="en-US" sz="1800" strike="noStrike" u="none">
                  <a:solidFill>
                    <a:srgbClr val="FFFFFF"/>
                  </a:solidFill>
                  <a:latin typeface="Arimo"/>
                  <a:ea typeface="Arimo"/>
                  <a:cs typeface="Arimo"/>
                  <a:sym typeface="Arimo"/>
                </a:rPr>
                <a:t>@SIH Idea submission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495300" y="114300"/>
            <a:ext cx="1915887" cy="1249101"/>
            <a:chOff x="0" y="0"/>
            <a:chExt cx="2554516" cy="1665468"/>
          </a:xfrm>
        </p:grpSpPr>
        <p:sp>
          <p:nvSpPr>
            <p:cNvPr name="Freeform 14" id="14" descr="Your startup LOGO"/>
            <p:cNvSpPr/>
            <p:nvPr/>
          </p:nvSpPr>
          <p:spPr>
            <a:xfrm flipH="false" flipV="false" rot="0">
              <a:off x="0" y="0"/>
              <a:ext cx="2554478" cy="1665481"/>
            </a:xfrm>
            <a:custGeom>
              <a:avLst/>
              <a:gdLst/>
              <a:ahLst/>
              <a:cxnLst/>
              <a:rect r="r" b="b" t="t" l="l"/>
              <a:pathLst>
                <a:path h="1665481" w="2554478">
                  <a:moveTo>
                    <a:pt x="0" y="832740"/>
                  </a:moveTo>
                  <a:cubicBezTo>
                    <a:pt x="0" y="372873"/>
                    <a:pt x="571881" y="0"/>
                    <a:pt x="1277239" y="0"/>
                  </a:cubicBezTo>
                  <a:cubicBezTo>
                    <a:pt x="1982597" y="0"/>
                    <a:pt x="2554478" y="372873"/>
                    <a:pt x="2554478" y="832740"/>
                  </a:cubicBezTo>
                  <a:cubicBezTo>
                    <a:pt x="2554478" y="1292608"/>
                    <a:pt x="1982597" y="1665481"/>
                    <a:pt x="1277239" y="1665481"/>
                  </a:cubicBezTo>
                  <a:cubicBezTo>
                    <a:pt x="571881" y="1665481"/>
                    <a:pt x="0" y="1292608"/>
                    <a:pt x="0" y="832740"/>
                  </a:cubicBezTo>
                  <a:close/>
                </a:path>
              </a:pathLst>
            </a:custGeom>
            <a:solidFill>
              <a:srgbClr val="FFFFFF"/>
            </a:solidFill>
            <a:ln w="38100" cap="sq">
              <a:solidFill>
                <a:srgbClr val="8064A2"/>
              </a:solidFill>
              <a:prstDash val="solid"/>
              <a:miter/>
            </a:ln>
          </p:spPr>
        </p:sp>
        <p:sp>
          <p:nvSpPr>
            <p:cNvPr name="TextBox 15" id="15"/>
            <p:cNvSpPr txBox="true"/>
            <p:nvPr/>
          </p:nvSpPr>
          <p:spPr>
            <a:xfrm>
              <a:off x="0" y="-19050"/>
              <a:ext cx="2554516" cy="168451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3240"/>
                </a:lnSpc>
                <a:spcBef>
                  <a:spcPct val="0"/>
                </a:spcBef>
              </a:pPr>
              <a:r>
                <a:rPr lang="en-US" sz="2700" strike="noStrike" u="none">
                  <a:solidFill>
                    <a:srgbClr val="000000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FAST&amp;</a:t>
              </a:r>
            </a:p>
            <a:p>
              <a:pPr algn="ctr" marL="0" indent="0" lvl="0">
                <a:lnSpc>
                  <a:spcPts val="3240"/>
                </a:lnSpc>
                <a:spcBef>
                  <a:spcPct val="0"/>
                </a:spcBef>
              </a:pPr>
              <a:r>
                <a:rPr lang="en-US" sz="2700" strike="noStrike" u="none">
                  <a:solidFill>
                    <a:srgbClr val="000000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CURIOUS</a:t>
              </a: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14670129" y="2248"/>
            <a:ext cx="3374774" cy="1593504"/>
            <a:chOff x="0" y="0"/>
            <a:chExt cx="4499699" cy="2124672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4499737" cy="2124710"/>
            </a:xfrm>
            <a:custGeom>
              <a:avLst/>
              <a:gdLst/>
              <a:ahLst/>
              <a:cxnLst/>
              <a:rect r="r" b="b" t="t" l="l"/>
              <a:pathLst>
                <a:path h="2124710" w="4499737">
                  <a:moveTo>
                    <a:pt x="0" y="0"/>
                  </a:moveTo>
                  <a:lnTo>
                    <a:pt x="4499737" y="0"/>
                  </a:lnTo>
                  <a:lnTo>
                    <a:pt x="4499737" y="2124710"/>
                  </a:lnTo>
                  <a:lnTo>
                    <a:pt x="0" y="21247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1"/>
              </a:stretch>
            </a:blipFill>
          </p:spPr>
        </p:sp>
      </p:grpSp>
      <p:sp>
        <p:nvSpPr>
          <p:cNvPr name="TextBox 18" id="18"/>
          <p:cNvSpPr txBox="true"/>
          <p:nvPr/>
        </p:nvSpPr>
        <p:spPr>
          <a:xfrm rot="0">
            <a:off x="4446935" y="976627"/>
            <a:ext cx="8850614" cy="5524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160"/>
              </a:lnSpc>
              <a:spcBef>
                <a:spcPct val="0"/>
              </a:spcBef>
            </a:pPr>
            <a:r>
              <a:rPr lang="en-US" b="true" sz="1800" strike="noStrike" u="none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Daily 1–4 week probabilistic monsoon outlook for every gram panchayat, turned into farmer advisories in Kannada &amp; English.</a:t>
            </a:r>
          </a:p>
        </p:txBody>
      </p:sp>
      <p:sp>
        <p:nvSpPr>
          <p:cNvPr name="Freeform 19" id="19" descr="Problem and solution, six capability tiles, and a phone screenshot of the app's Kannada farmer view"/>
          <p:cNvSpPr/>
          <p:nvPr/>
        </p:nvSpPr>
        <p:spPr>
          <a:xfrm flipH="false" flipV="false" rot="0">
            <a:off x="381000" y="1790700"/>
            <a:ext cx="17526000" cy="7620000"/>
          </a:xfrm>
          <a:custGeom>
            <a:avLst/>
            <a:gdLst/>
            <a:ahLst/>
            <a:cxnLst/>
            <a:rect r="r" b="b" t="t" l="l"/>
            <a:pathLst>
              <a:path h="7620000" w="17526000">
                <a:moveTo>
                  <a:pt x="0" y="0"/>
                </a:moveTo>
                <a:lnTo>
                  <a:pt x="17526000" y="0"/>
                </a:lnTo>
                <a:lnTo>
                  <a:pt x="17526000" y="7620000"/>
                </a:lnTo>
                <a:lnTo>
                  <a:pt x="0" y="762000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119" t="0" r="-119" b="0"/>
            </a:stretch>
          </a:blipFill>
        </p:spPr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9532144"/>
            <a:ext cx="18288000" cy="754856"/>
            <a:chOff x="0" y="0"/>
            <a:chExt cx="24384000" cy="100647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006475"/>
            </a:xfrm>
            <a:custGeom>
              <a:avLst/>
              <a:gdLst/>
              <a:ahLst/>
              <a:cxnLst/>
              <a:rect r="r" b="b" t="t" l="l"/>
              <a:pathLst>
                <a:path h="1006475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006475"/>
                  </a:lnTo>
                  <a:lnTo>
                    <a:pt x="0" y="1006475"/>
                  </a:lnTo>
                  <a:close/>
                </a:path>
              </a:pathLst>
            </a:custGeom>
            <a:solidFill>
              <a:srgbClr val="0070C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914400" y="-71438"/>
            <a:ext cx="16459200" cy="1714500"/>
            <a:chOff x="0" y="0"/>
            <a:chExt cx="21945600" cy="228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1945600" cy="2286000"/>
            </a:xfrm>
            <a:custGeom>
              <a:avLst/>
              <a:gdLst/>
              <a:ahLst/>
              <a:cxnLst/>
              <a:rect r="r" b="b" t="t" l="l"/>
              <a:pathLst>
                <a:path h="228600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2286000"/>
                  </a:lnTo>
                  <a:lnTo>
                    <a:pt x="0" y="22860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7056" r="0" b="-137056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-28575"/>
              <a:ext cx="21945600" cy="231457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6480"/>
                </a:lnSpc>
              </a:pPr>
              <a:r>
                <a:rPr lang="en-US" sz="5400" b="true">
                  <a:solidFill>
                    <a:srgbClr val="000000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TECHNICAL APPROACH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3106400" y="9534525"/>
            <a:ext cx="4267200" cy="547688"/>
            <a:chOff x="0" y="0"/>
            <a:chExt cx="5689600" cy="73025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5689600" cy="730250"/>
            </a:xfrm>
            <a:custGeom>
              <a:avLst/>
              <a:gdLst/>
              <a:ahLst/>
              <a:cxnLst/>
              <a:rect r="r" b="b" t="t" l="l"/>
              <a:pathLst>
                <a:path h="730250" w="5689600">
                  <a:moveTo>
                    <a:pt x="0" y="0"/>
                  </a:moveTo>
                  <a:lnTo>
                    <a:pt x="5689600" y="0"/>
                  </a:lnTo>
                  <a:lnTo>
                    <a:pt x="56896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1813" r="0" b="-101813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19050"/>
              <a:ext cx="5689600" cy="7493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2160"/>
                </a:lnSpc>
              </a:pPr>
              <a:r>
                <a:rPr lang="en-US" sz="1800" b="true">
                  <a:solidFill>
                    <a:srgbClr val="FFFFFF"/>
                  </a:solidFill>
                  <a:latin typeface="Arimo Bold"/>
                  <a:ea typeface="Arimo Bold"/>
                  <a:cs typeface="Arimo Bold"/>
                  <a:sym typeface="Arimo Bold"/>
                </a:rPr>
                <a:t>3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972300" y="9534525"/>
            <a:ext cx="4806001" cy="547688"/>
            <a:chOff x="0" y="0"/>
            <a:chExt cx="6408001" cy="73025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6408000" cy="730250"/>
            </a:xfrm>
            <a:custGeom>
              <a:avLst/>
              <a:gdLst/>
              <a:ahLst/>
              <a:cxnLst/>
              <a:rect r="r" b="b" t="t" l="l"/>
              <a:pathLst>
                <a:path h="730250" w="6408000">
                  <a:moveTo>
                    <a:pt x="0" y="0"/>
                  </a:moveTo>
                  <a:lnTo>
                    <a:pt x="6408000" y="0"/>
                  </a:lnTo>
                  <a:lnTo>
                    <a:pt x="64080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20982" r="0" b="-120982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19050"/>
              <a:ext cx="6408001" cy="7493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160"/>
                </a:lnSpc>
              </a:pPr>
              <a:r>
                <a:rPr lang="en-US" sz="1800">
                  <a:solidFill>
                    <a:srgbClr val="FFFFFF"/>
                  </a:solidFill>
                  <a:latin typeface="Arimo"/>
                  <a:ea typeface="Arimo"/>
                  <a:cs typeface="Arimo"/>
                  <a:sym typeface="Arimo"/>
                </a:rPr>
                <a:t>@SIH Idea submission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540838" y="94187"/>
            <a:ext cx="1915887" cy="1249101"/>
            <a:chOff x="0" y="0"/>
            <a:chExt cx="2554516" cy="1665468"/>
          </a:xfrm>
        </p:grpSpPr>
        <p:sp>
          <p:nvSpPr>
            <p:cNvPr name="Freeform 14" id="14" descr="Your startup LOGO"/>
            <p:cNvSpPr/>
            <p:nvPr/>
          </p:nvSpPr>
          <p:spPr>
            <a:xfrm flipH="false" flipV="false" rot="0">
              <a:off x="0" y="0"/>
              <a:ext cx="2554478" cy="1665481"/>
            </a:xfrm>
            <a:custGeom>
              <a:avLst/>
              <a:gdLst/>
              <a:ahLst/>
              <a:cxnLst/>
              <a:rect r="r" b="b" t="t" l="l"/>
              <a:pathLst>
                <a:path h="1665481" w="2554478">
                  <a:moveTo>
                    <a:pt x="0" y="832740"/>
                  </a:moveTo>
                  <a:cubicBezTo>
                    <a:pt x="0" y="372873"/>
                    <a:pt x="571881" y="0"/>
                    <a:pt x="1277239" y="0"/>
                  </a:cubicBezTo>
                  <a:cubicBezTo>
                    <a:pt x="1982597" y="0"/>
                    <a:pt x="2554478" y="372873"/>
                    <a:pt x="2554478" y="832740"/>
                  </a:cubicBezTo>
                  <a:cubicBezTo>
                    <a:pt x="2554478" y="1292608"/>
                    <a:pt x="1982597" y="1665481"/>
                    <a:pt x="1277239" y="1665481"/>
                  </a:cubicBezTo>
                  <a:cubicBezTo>
                    <a:pt x="571881" y="1665481"/>
                    <a:pt x="0" y="1292608"/>
                    <a:pt x="0" y="832740"/>
                  </a:cubicBezTo>
                  <a:close/>
                </a:path>
              </a:pathLst>
            </a:custGeom>
            <a:solidFill>
              <a:srgbClr val="FFFFFF"/>
            </a:solidFill>
            <a:ln w="38100" cap="sq">
              <a:solidFill>
                <a:srgbClr val="8064A2"/>
              </a:solidFill>
              <a:prstDash val="solid"/>
              <a:miter/>
            </a:ln>
          </p:spPr>
        </p:sp>
        <p:sp>
          <p:nvSpPr>
            <p:cNvPr name="TextBox 15" id="15"/>
            <p:cNvSpPr txBox="true"/>
            <p:nvPr/>
          </p:nvSpPr>
          <p:spPr>
            <a:xfrm>
              <a:off x="0" y="-57150"/>
              <a:ext cx="2554516" cy="172261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40"/>
                </a:lnSpc>
              </a:pPr>
              <a:r>
                <a:rPr lang="en-US" sz="2700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FAST&amp;</a:t>
              </a:r>
            </a:p>
            <a:p>
              <a:pPr algn="ctr">
                <a:lnSpc>
                  <a:spcPts val="3240"/>
                </a:lnSpc>
              </a:pPr>
              <a:r>
                <a:rPr lang="en-US" sz="2700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CURIOUS</a:t>
              </a: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14670129" y="2248"/>
            <a:ext cx="3374774" cy="1593504"/>
            <a:chOff x="0" y="0"/>
            <a:chExt cx="4499699" cy="2124672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4499737" cy="2124710"/>
            </a:xfrm>
            <a:custGeom>
              <a:avLst/>
              <a:gdLst/>
              <a:ahLst/>
              <a:cxnLst/>
              <a:rect r="r" b="b" t="t" l="l"/>
              <a:pathLst>
                <a:path h="2124710" w="4499737">
                  <a:moveTo>
                    <a:pt x="0" y="0"/>
                  </a:moveTo>
                  <a:lnTo>
                    <a:pt x="4499737" y="0"/>
                  </a:lnTo>
                  <a:lnTo>
                    <a:pt x="4499737" y="2124710"/>
                  </a:lnTo>
                  <a:lnTo>
                    <a:pt x="0" y="21247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1"/>
              </a:stretch>
            </a:blipFill>
          </p:spPr>
        </p:sp>
      </p:grpSp>
      <p:sp>
        <p:nvSpPr>
          <p:cNvPr name="Freeform 18" id="18" descr="Five-step pipeline from inputs to advisories, validation protocol and tech stack"/>
          <p:cNvSpPr/>
          <p:nvPr/>
        </p:nvSpPr>
        <p:spPr>
          <a:xfrm flipH="false" flipV="false" rot="0">
            <a:off x="381000" y="1790700"/>
            <a:ext cx="17526000" cy="7620000"/>
          </a:xfrm>
          <a:custGeom>
            <a:avLst/>
            <a:gdLst/>
            <a:ahLst/>
            <a:cxnLst/>
            <a:rect r="r" b="b" t="t" l="l"/>
            <a:pathLst>
              <a:path h="7620000" w="17526000">
                <a:moveTo>
                  <a:pt x="0" y="0"/>
                </a:moveTo>
                <a:lnTo>
                  <a:pt x="17526000" y="0"/>
                </a:lnTo>
                <a:lnTo>
                  <a:pt x="17526000" y="7620000"/>
                </a:lnTo>
                <a:lnTo>
                  <a:pt x="0" y="762000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119" t="0" r="-119" b="0"/>
            </a:stretch>
          </a:blipFill>
        </p:spPr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9532144"/>
            <a:ext cx="18288000" cy="754856"/>
            <a:chOff x="0" y="0"/>
            <a:chExt cx="24384000" cy="100647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006475"/>
            </a:xfrm>
            <a:custGeom>
              <a:avLst/>
              <a:gdLst/>
              <a:ahLst/>
              <a:cxnLst/>
              <a:rect r="r" b="b" t="t" l="l"/>
              <a:pathLst>
                <a:path h="1006475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006475"/>
                  </a:lnTo>
                  <a:lnTo>
                    <a:pt x="0" y="1006475"/>
                  </a:lnTo>
                  <a:close/>
                </a:path>
              </a:pathLst>
            </a:custGeom>
            <a:solidFill>
              <a:srgbClr val="0070C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914400" y="-71438"/>
            <a:ext cx="16459200" cy="1714500"/>
            <a:chOff x="0" y="0"/>
            <a:chExt cx="21945600" cy="228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1945600" cy="2286000"/>
            </a:xfrm>
            <a:custGeom>
              <a:avLst/>
              <a:gdLst/>
              <a:ahLst/>
              <a:cxnLst/>
              <a:rect r="r" b="b" t="t" l="l"/>
              <a:pathLst>
                <a:path h="228600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2286000"/>
                  </a:lnTo>
                  <a:lnTo>
                    <a:pt x="0" y="22860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7056" r="0" b="-137056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-28575"/>
              <a:ext cx="21945600" cy="231457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6480"/>
                </a:lnSpc>
              </a:pPr>
              <a:r>
                <a:rPr lang="en-US" sz="5400" b="true">
                  <a:solidFill>
                    <a:srgbClr val="000000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FEASIBILITY AND VIABILITY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3106400" y="9534525"/>
            <a:ext cx="4267200" cy="547688"/>
            <a:chOff x="0" y="0"/>
            <a:chExt cx="5689600" cy="73025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5689600" cy="730250"/>
            </a:xfrm>
            <a:custGeom>
              <a:avLst/>
              <a:gdLst/>
              <a:ahLst/>
              <a:cxnLst/>
              <a:rect r="r" b="b" t="t" l="l"/>
              <a:pathLst>
                <a:path h="730250" w="5689600">
                  <a:moveTo>
                    <a:pt x="0" y="0"/>
                  </a:moveTo>
                  <a:lnTo>
                    <a:pt x="5689600" y="0"/>
                  </a:lnTo>
                  <a:lnTo>
                    <a:pt x="56896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1813" r="0" b="-101813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19050"/>
              <a:ext cx="5689600" cy="7493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2160"/>
                </a:lnSpc>
              </a:pPr>
              <a:r>
                <a:rPr lang="en-US" b="true" sz="1800">
                  <a:solidFill>
                    <a:srgbClr val="FFFFFF"/>
                  </a:solidFill>
                  <a:latin typeface="Arimo Bold"/>
                  <a:ea typeface="Arimo Bold"/>
                  <a:cs typeface="Arimo Bold"/>
                  <a:sym typeface="Arimo Bold"/>
                </a:rPr>
                <a:t>4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972300" y="9534525"/>
            <a:ext cx="4806001" cy="547688"/>
            <a:chOff x="0" y="0"/>
            <a:chExt cx="6408001" cy="73025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6408000" cy="730250"/>
            </a:xfrm>
            <a:custGeom>
              <a:avLst/>
              <a:gdLst/>
              <a:ahLst/>
              <a:cxnLst/>
              <a:rect r="r" b="b" t="t" l="l"/>
              <a:pathLst>
                <a:path h="730250" w="6408000">
                  <a:moveTo>
                    <a:pt x="0" y="0"/>
                  </a:moveTo>
                  <a:lnTo>
                    <a:pt x="6408000" y="0"/>
                  </a:lnTo>
                  <a:lnTo>
                    <a:pt x="64080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20982" r="0" b="-120982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19050"/>
              <a:ext cx="6408001" cy="7493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160"/>
                </a:lnSpc>
              </a:pPr>
              <a:r>
                <a:rPr lang="en-US" sz="1800">
                  <a:solidFill>
                    <a:srgbClr val="FFFFFF"/>
                  </a:solidFill>
                  <a:latin typeface="Arimo"/>
                  <a:ea typeface="Arimo"/>
                  <a:cs typeface="Arimo"/>
                  <a:sym typeface="Arimo"/>
                </a:rPr>
                <a:t>@SIH Idea submission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475612" y="128829"/>
            <a:ext cx="1915887" cy="1249101"/>
            <a:chOff x="0" y="0"/>
            <a:chExt cx="2554516" cy="1665468"/>
          </a:xfrm>
        </p:grpSpPr>
        <p:sp>
          <p:nvSpPr>
            <p:cNvPr name="Freeform 14" id="14" descr="Your startup LOGO"/>
            <p:cNvSpPr/>
            <p:nvPr/>
          </p:nvSpPr>
          <p:spPr>
            <a:xfrm flipH="false" flipV="false" rot="0">
              <a:off x="0" y="0"/>
              <a:ext cx="2554478" cy="1665481"/>
            </a:xfrm>
            <a:custGeom>
              <a:avLst/>
              <a:gdLst/>
              <a:ahLst/>
              <a:cxnLst/>
              <a:rect r="r" b="b" t="t" l="l"/>
              <a:pathLst>
                <a:path h="1665481" w="2554478">
                  <a:moveTo>
                    <a:pt x="0" y="832740"/>
                  </a:moveTo>
                  <a:cubicBezTo>
                    <a:pt x="0" y="372873"/>
                    <a:pt x="571881" y="0"/>
                    <a:pt x="1277239" y="0"/>
                  </a:cubicBezTo>
                  <a:cubicBezTo>
                    <a:pt x="1982597" y="0"/>
                    <a:pt x="2554478" y="372873"/>
                    <a:pt x="2554478" y="832740"/>
                  </a:cubicBezTo>
                  <a:cubicBezTo>
                    <a:pt x="2554478" y="1292608"/>
                    <a:pt x="1982597" y="1665481"/>
                    <a:pt x="1277239" y="1665481"/>
                  </a:cubicBezTo>
                  <a:cubicBezTo>
                    <a:pt x="571881" y="1665481"/>
                    <a:pt x="0" y="1292608"/>
                    <a:pt x="0" y="832740"/>
                  </a:cubicBezTo>
                  <a:close/>
                </a:path>
              </a:pathLst>
            </a:custGeom>
            <a:solidFill>
              <a:srgbClr val="FFFFFF"/>
            </a:solidFill>
            <a:ln w="38100" cap="sq">
              <a:solidFill>
                <a:srgbClr val="8064A2"/>
              </a:solidFill>
              <a:prstDash val="solid"/>
              <a:miter/>
            </a:ln>
          </p:spPr>
        </p:sp>
        <p:sp>
          <p:nvSpPr>
            <p:cNvPr name="TextBox 15" id="15"/>
            <p:cNvSpPr txBox="true"/>
            <p:nvPr/>
          </p:nvSpPr>
          <p:spPr>
            <a:xfrm>
              <a:off x="0" y="-57150"/>
              <a:ext cx="2554516" cy="172261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40"/>
                </a:lnSpc>
              </a:pPr>
              <a:r>
                <a:rPr lang="en-US" sz="2700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FAST&amp;</a:t>
              </a:r>
            </a:p>
            <a:p>
              <a:pPr algn="ctr">
                <a:lnSpc>
                  <a:spcPts val="3240"/>
                </a:lnSpc>
              </a:pPr>
              <a:r>
                <a:rPr lang="en-US" sz="2700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CURIOUS</a:t>
              </a: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14670129" y="2248"/>
            <a:ext cx="3374774" cy="1593504"/>
            <a:chOff x="0" y="0"/>
            <a:chExt cx="4499699" cy="2124672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4499737" cy="2124710"/>
            </a:xfrm>
            <a:custGeom>
              <a:avLst/>
              <a:gdLst/>
              <a:ahLst/>
              <a:cxnLst/>
              <a:rect r="r" b="b" t="t" l="l"/>
              <a:pathLst>
                <a:path h="2124710" w="4499737">
                  <a:moveTo>
                    <a:pt x="0" y="0"/>
                  </a:moveTo>
                  <a:lnTo>
                    <a:pt x="4499737" y="0"/>
                  </a:lnTo>
                  <a:lnTo>
                    <a:pt x="4499737" y="2124710"/>
                  </a:lnTo>
                  <a:lnTo>
                    <a:pt x="0" y="21247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1"/>
              </a:stretch>
            </a:blipFill>
          </p:spPr>
        </p:sp>
      </p:grpSp>
      <p:sp>
        <p:nvSpPr>
          <p:cNvPr name="Freeform 18" id="18" descr="Feasibility KPIs, key challenges with mitigations, and calibration of the forecasts"/>
          <p:cNvSpPr/>
          <p:nvPr/>
        </p:nvSpPr>
        <p:spPr>
          <a:xfrm flipH="false" flipV="false" rot="0">
            <a:off x="381000" y="1790700"/>
            <a:ext cx="17526000" cy="7620000"/>
          </a:xfrm>
          <a:custGeom>
            <a:avLst/>
            <a:gdLst/>
            <a:ahLst/>
            <a:cxnLst/>
            <a:rect r="r" b="b" t="t" l="l"/>
            <a:pathLst>
              <a:path h="7620000" w="17526000">
                <a:moveTo>
                  <a:pt x="0" y="0"/>
                </a:moveTo>
                <a:lnTo>
                  <a:pt x="17526000" y="0"/>
                </a:lnTo>
                <a:lnTo>
                  <a:pt x="17526000" y="7620000"/>
                </a:lnTo>
                <a:lnTo>
                  <a:pt x="0" y="762000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119" t="0" r="-119" b="0"/>
            </a:stretch>
          </a:blipFill>
        </p:spPr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9532144"/>
            <a:ext cx="18288000" cy="754856"/>
            <a:chOff x="0" y="0"/>
            <a:chExt cx="24384000" cy="100647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006475"/>
            </a:xfrm>
            <a:custGeom>
              <a:avLst/>
              <a:gdLst/>
              <a:ahLst/>
              <a:cxnLst/>
              <a:rect r="r" b="b" t="t" l="l"/>
              <a:pathLst>
                <a:path h="1006475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006475"/>
                  </a:lnTo>
                  <a:lnTo>
                    <a:pt x="0" y="1006475"/>
                  </a:lnTo>
                  <a:close/>
                </a:path>
              </a:pathLst>
            </a:custGeom>
            <a:solidFill>
              <a:srgbClr val="0070C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914400" y="-71438"/>
            <a:ext cx="16459200" cy="1714500"/>
            <a:chOff x="0" y="0"/>
            <a:chExt cx="21945600" cy="228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1945600" cy="2286000"/>
            </a:xfrm>
            <a:custGeom>
              <a:avLst/>
              <a:gdLst/>
              <a:ahLst/>
              <a:cxnLst/>
              <a:rect r="r" b="b" t="t" l="l"/>
              <a:pathLst>
                <a:path h="228600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2286000"/>
                  </a:lnTo>
                  <a:lnTo>
                    <a:pt x="0" y="22860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7056" r="0" b="-137056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-28575"/>
              <a:ext cx="21945600" cy="231457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6480"/>
                </a:lnSpc>
              </a:pPr>
              <a:r>
                <a:rPr lang="en-US" sz="5400" b="true">
                  <a:solidFill>
                    <a:srgbClr val="000000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IMPACT AND BENEFITS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3106400" y="9534525"/>
            <a:ext cx="4267200" cy="547688"/>
            <a:chOff x="0" y="0"/>
            <a:chExt cx="5689600" cy="73025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5689600" cy="730250"/>
            </a:xfrm>
            <a:custGeom>
              <a:avLst/>
              <a:gdLst/>
              <a:ahLst/>
              <a:cxnLst/>
              <a:rect r="r" b="b" t="t" l="l"/>
              <a:pathLst>
                <a:path h="730250" w="5689600">
                  <a:moveTo>
                    <a:pt x="0" y="0"/>
                  </a:moveTo>
                  <a:lnTo>
                    <a:pt x="5689600" y="0"/>
                  </a:lnTo>
                  <a:lnTo>
                    <a:pt x="56896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1813" r="0" b="-101813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19050"/>
              <a:ext cx="5689600" cy="7493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2160"/>
                </a:lnSpc>
              </a:pPr>
              <a:r>
                <a:rPr lang="en-US" b="true" sz="1800">
                  <a:solidFill>
                    <a:srgbClr val="FFFFFF"/>
                  </a:solidFill>
                  <a:latin typeface="Arimo Bold"/>
                  <a:ea typeface="Arimo Bold"/>
                  <a:cs typeface="Arimo Bold"/>
                  <a:sym typeface="Arimo Bold"/>
                </a:rPr>
                <a:t>5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972300" y="9534525"/>
            <a:ext cx="4806001" cy="547688"/>
            <a:chOff x="0" y="0"/>
            <a:chExt cx="6408001" cy="73025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6408000" cy="730250"/>
            </a:xfrm>
            <a:custGeom>
              <a:avLst/>
              <a:gdLst/>
              <a:ahLst/>
              <a:cxnLst/>
              <a:rect r="r" b="b" t="t" l="l"/>
              <a:pathLst>
                <a:path h="730250" w="6408000">
                  <a:moveTo>
                    <a:pt x="0" y="0"/>
                  </a:moveTo>
                  <a:lnTo>
                    <a:pt x="6408000" y="0"/>
                  </a:lnTo>
                  <a:lnTo>
                    <a:pt x="64080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20982" r="0" b="-120982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19050"/>
              <a:ext cx="6408001" cy="7493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160"/>
                </a:lnSpc>
              </a:pPr>
              <a:r>
                <a:rPr lang="en-US" sz="1800">
                  <a:solidFill>
                    <a:srgbClr val="FFFFFF"/>
                  </a:solidFill>
                  <a:latin typeface="Arimo"/>
                  <a:ea typeface="Arimo"/>
                  <a:cs typeface="Arimo"/>
                  <a:sym typeface="Arimo"/>
                </a:rPr>
                <a:t>@SIH Idea submission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497354" y="0"/>
            <a:ext cx="1915887" cy="1249101"/>
            <a:chOff x="0" y="0"/>
            <a:chExt cx="2554516" cy="1665468"/>
          </a:xfrm>
        </p:grpSpPr>
        <p:sp>
          <p:nvSpPr>
            <p:cNvPr name="Freeform 14" id="14" descr="Your startup LOGO"/>
            <p:cNvSpPr/>
            <p:nvPr/>
          </p:nvSpPr>
          <p:spPr>
            <a:xfrm flipH="false" flipV="false" rot="0">
              <a:off x="0" y="0"/>
              <a:ext cx="2554478" cy="1665481"/>
            </a:xfrm>
            <a:custGeom>
              <a:avLst/>
              <a:gdLst/>
              <a:ahLst/>
              <a:cxnLst/>
              <a:rect r="r" b="b" t="t" l="l"/>
              <a:pathLst>
                <a:path h="1665481" w="2554478">
                  <a:moveTo>
                    <a:pt x="0" y="832740"/>
                  </a:moveTo>
                  <a:cubicBezTo>
                    <a:pt x="0" y="372873"/>
                    <a:pt x="571881" y="0"/>
                    <a:pt x="1277239" y="0"/>
                  </a:cubicBezTo>
                  <a:cubicBezTo>
                    <a:pt x="1982597" y="0"/>
                    <a:pt x="2554478" y="372873"/>
                    <a:pt x="2554478" y="832740"/>
                  </a:cubicBezTo>
                  <a:cubicBezTo>
                    <a:pt x="2554478" y="1292608"/>
                    <a:pt x="1982597" y="1665481"/>
                    <a:pt x="1277239" y="1665481"/>
                  </a:cubicBezTo>
                  <a:cubicBezTo>
                    <a:pt x="571881" y="1665481"/>
                    <a:pt x="0" y="1292608"/>
                    <a:pt x="0" y="832740"/>
                  </a:cubicBezTo>
                  <a:close/>
                </a:path>
              </a:pathLst>
            </a:custGeom>
            <a:solidFill>
              <a:srgbClr val="FFFFFF"/>
            </a:solidFill>
            <a:ln w="38100" cap="sq">
              <a:solidFill>
                <a:srgbClr val="8064A2"/>
              </a:solidFill>
              <a:prstDash val="solid"/>
              <a:miter/>
            </a:ln>
          </p:spPr>
        </p:sp>
        <p:sp>
          <p:nvSpPr>
            <p:cNvPr name="TextBox 15" id="15"/>
            <p:cNvSpPr txBox="true"/>
            <p:nvPr/>
          </p:nvSpPr>
          <p:spPr>
            <a:xfrm>
              <a:off x="0" y="-57150"/>
              <a:ext cx="2554516" cy="172261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40"/>
                </a:lnSpc>
              </a:pPr>
              <a:r>
                <a:rPr lang="en-US" sz="2700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FAST&amp;</a:t>
              </a:r>
            </a:p>
            <a:p>
              <a:pPr algn="ctr">
                <a:lnSpc>
                  <a:spcPts val="3240"/>
                </a:lnSpc>
              </a:pPr>
              <a:r>
                <a:rPr lang="en-US" sz="2700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CURIOUS</a:t>
              </a: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14670129" y="2248"/>
            <a:ext cx="3374774" cy="1593504"/>
            <a:chOff x="0" y="0"/>
            <a:chExt cx="4499699" cy="2124672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4499737" cy="2124710"/>
            </a:xfrm>
            <a:custGeom>
              <a:avLst/>
              <a:gdLst/>
              <a:ahLst/>
              <a:cxnLst/>
              <a:rect r="r" b="b" t="t" l="l"/>
              <a:pathLst>
                <a:path h="2124710" w="4499737">
                  <a:moveTo>
                    <a:pt x="0" y="0"/>
                  </a:moveTo>
                  <a:lnTo>
                    <a:pt x="4499737" y="0"/>
                  </a:lnTo>
                  <a:lnTo>
                    <a:pt x="4499737" y="2124710"/>
                  </a:lnTo>
                  <a:lnTo>
                    <a:pt x="0" y="21247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1"/>
              </a:stretch>
            </a:blipFill>
          </p:spPr>
        </p:sp>
      </p:grpSp>
      <p:sp>
        <p:nvSpPr>
          <p:cNvPr name="Freeform 18" id="18" descr="Validated forecast skill table, stakeholder benefits, and a screenshot of the app's panchayat risk map"/>
          <p:cNvSpPr/>
          <p:nvPr/>
        </p:nvSpPr>
        <p:spPr>
          <a:xfrm flipH="false" flipV="false" rot="0">
            <a:off x="381000" y="1643062"/>
            <a:ext cx="17526000" cy="7620000"/>
          </a:xfrm>
          <a:custGeom>
            <a:avLst/>
            <a:gdLst/>
            <a:ahLst/>
            <a:cxnLst/>
            <a:rect r="r" b="b" t="t" l="l"/>
            <a:pathLst>
              <a:path h="7620000" w="17526000">
                <a:moveTo>
                  <a:pt x="0" y="0"/>
                </a:moveTo>
                <a:lnTo>
                  <a:pt x="17526000" y="0"/>
                </a:lnTo>
                <a:lnTo>
                  <a:pt x="17526000" y="7620000"/>
                </a:lnTo>
                <a:lnTo>
                  <a:pt x="0" y="762000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119" t="0" r="-119" b="0"/>
            </a:stretch>
          </a:blipFill>
        </p:spPr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9532144"/>
            <a:ext cx="18288000" cy="754856"/>
            <a:chOff x="0" y="0"/>
            <a:chExt cx="24384000" cy="100647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006475"/>
            </a:xfrm>
            <a:custGeom>
              <a:avLst/>
              <a:gdLst/>
              <a:ahLst/>
              <a:cxnLst/>
              <a:rect r="r" b="b" t="t" l="l"/>
              <a:pathLst>
                <a:path h="1006475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006475"/>
                  </a:lnTo>
                  <a:lnTo>
                    <a:pt x="0" y="1006475"/>
                  </a:lnTo>
                  <a:close/>
                </a:path>
              </a:pathLst>
            </a:custGeom>
            <a:solidFill>
              <a:srgbClr val="0070C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914400" y="-71438"/>
            <a:ext cx="16459200" cy="1714500"/>
            <a:chOff x="0" y="0"/>
            <a:chExt cx="21945600" cy="228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1945600" cy="2286000"/>
            </a:xfrm>
            <a:custGeom>
              <a:avLst/>
              <a:gdLst/>
              <a:ahLst/>
              <a:cxnLst/>
              <a:rect r="r" b="b" t="t" l="l"/>
              <a:pathLst>
                <a:path h="228600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2286000"/>
                  </a:lnTo>
                  <a:lnTo>
                    <a:pt x="0" y="22860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7056" r="0" b="-137056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-28575"/>
              <a:ext cx="21945600" cy="231457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6480"/>
                </a:lnSpc>
              </a:pPr>
              <a:r>
                <a:rPr lang="en-US" sz="5400" b="true">
                  <a:solidFill>
                    <a:srgbClr val="000000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RESE</a:t>
              </a:r>
              <a:r>
                <a:rPr lang="en-US" sz="5400" b="true">
                  <a:solidFill>
                    <a:srgbClr val="000000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ARCH AND REFERENCES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3106400" y="9534525"/>
            <a:ext cx="4267200" cy="547688"/>
            <a:chOff x="0" y="0"/>
            <a:chExt cx="5689600" cy="73025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5689600" cy="730250"/>
            </a:xfrm>
            <a:custGeom>
              <a:avLst/>
              <a:gdLst/>
              <a:ahLst/>
              <a:cxnLst/>
              <a:rect r="r" b="b" t="t" l="l"/>
              <a:pathLst>
                <a:path h="730250" w="5689600">
                  <a:moveTo>
                    <a:pt x="0" y="0"/>
                  </a:moveTo>
                  <a:lnTo>
                    <a:pt x="5689600" y="0"/>
                  </a:lnTo>
                  <a:lnTo>
                    <a:pt x="56896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1813" r="0" b="-101813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19050"/>
              <a:ext cx="5689600" cy="7493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2160"/>
                </a:lnSpc>
              </a:pPr>
              <a:r>
                <a:rPr lang="en-US" sz="1800">
                  <a:solidFill>
                    <a:srgbClr val="FFFFFF"/>
                  </a:solidFill>
                  <a:latin typeface="Arimo"/>
                  <a:ea typeface="Arimo"/>
                  <a:cs typeface="Arimo"/>
                  <a:sym typeface="Arimo"/>
                </a:rPr>
                <a:t>6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972300" y="9534525"/>
            <a:ext cx="4806001" cy="547688"/>
            <a:chOff x="0" y="0"/>
            <a:chExt cx="6408001" cy="73025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6408000" cy="730250"/>
            </a:xfrm>
            <a:custGeom>
              <a:avLst/>
              <a:gdLst/>
              <a:ahLst/>
              <a:cxnLst/>
              <a:rect r="r" b="b" t="t" l="l"/>
              <a:pathLst>
                <a:path h="730250" w="6408000">
                  <a:moveTo>
                    <a:pt x="0" y="0"/>
                  </a:moveTo>
                  <a:lnTo>
                    <a:pt x="6408000" y="0"/>
                  </a:lnTo>
                  <a:lnTo>
                    <a:pt x="64080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20982" r="0" b="-120982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19050"/>
              <a:ext cx="6408001" cy="7493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160"/>
                </a:lnSpc>
              </a:pPr>
              <a:r>
                <a:rPr lang="en-US" sz="1800">
                  <a:solidFill>
                    <a:srgbClr val="FFFFFF"/>
                  </a:solidFill>
                  <a:latin typeface="Arimo"/>
                  <a:ea typeface="Arimo"/>
                  <a:cs typeface="Arimo"/>
                  <a:sym typeface="Arimo"/>
                </a:rPr>
                <a:t>@SIH Idea submission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475612" y="128829"/>
            <a:ext cx="1915887" cy="1249101"/>
            <a:chOff x="0" y="0"/>
            <a:chExt cx="2554516" cy="1665468"/>
          </a:xfrm>
        </p:grpSpPr>
        <p:sp>
          <p:nvSpPr>
            <p:cNvPr name="Freeform 14" id="14" descr="Your startup LOGO"/>
            <p:cNvSpPr/>
            <p:nvPr/>
          </p:nvSpPr>
          <p:spPr>
            <a:xfrm flipH="false" flipV="false" rot="0">
              <a:off x="0" y="0"/>
              <a:ext cx="2554478" cy="1665481"/>
            </a:xfrm>
            <a:custGeom>
              <a:avLst/>
              <a:gdLst/>
              <a:ahLst/>
              <a:cxnLst/>
              <a:rect r="r" b="b" t="t" l="l"/>
              <a:pathLst>
                <a:path h="1665481" w="2554478">
                  <a:moveTo>
                    <a:pt x="0" y="832740"/>
                  </a:moveTo>
                  <a:cubicBezTo>
                    <a:pt x="0" y="372873"/>
                    <a:pt x="571881" y="0"/>
                    <a:pt x="1277239" y="0"/>
                  </a:cubicBezTo>
                  <a:cubicBezTo>
                    <a:pt x="1982597" y="0"/>
                    <a:pt x="2554478" y="372873"/>
                    <a:pt x="2554478" y="832740"/>
                  </a:cubicBezTo>
                  <a:cubicBezTo>
                    <a:pt x="2554478" y="1292608"/>
                    <a:pt x="1982597" y="1665481"/>
                    <a:pt x="1277239" y="1665481"/>
                  </a:cubicBezTo>
                  <a:cubicBezTo>
                    <a:pt x="571881" y="1665481"/>
                    <a:pt x="0" y="1292608"/>
                    <a:pt x="0" y="832740"/>
                  </a:cubicBezTo>
                  <a:close/>
                </a:path>
              </a:pathLst>
            </a:custGeom>
            <a:solidFill>
              <a:srgbClr val="FFFFFF"/>
            </a:solidFill>
            <a:ln w="38100" cap="sq">
              <a:solidFill>
                <a:srgbClr val="8064A2"/>
              </a:solidFill>
              <a:prstDash val="solid"/>
              <a:miter/>
            </a:ln>
          </p:spPr>
        </p:sp>
        <p:sp>
          <p:nvSpPr>
            <p:cNvPr name="TextBox 15" id="15"/>
            <p:cNvSpPr txBox="true"/>
            <p:nvPr/>
          </p:nvSpPr>
          <p:spPr>
            <a:xfrm>
              <a:off x="0" y="-57150"/>
              <a:ext cx="2554516" cy="172261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40"/>
                </a:lnSpc>
              </a:pPr>
              <a:r>
                <a:rPr lang="en-US" sz="2700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FAST&amp;</a:t>
              </a:r>
            </a:p>
            <a:p>
              <a:pPr algn="ctr">
                <a:lnSpc>
                  <a:spcPts val="3240"/>
                </a:lnSpc>
              </a:pPr>
              <a:r>
                <a:rPr lang="en-US" sz="2700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CURIOUS</a:t>
              </a: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14670129" y="2248"/>
            <a:ext cx="3374774" cy="1593504"/>
            <a:chOff x="0" y="0"/>
            <a:chExt cx="4499699" cy="2124672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4499737" cy="2124710"/>
            </a:xfrm>
            <a:custGeom>
              <a:avLst/>
              <a:gdLst/>
              <a:ahLst/>
              <a:cxnLst/>
              <a:rect r="r" b="b" t="t" l="l"/>
              <a:pathLst>
                <a:path h="2124710" w="4499737">
                  <a:moveTo>
                    <a:pt x="0" y="0"/>
                  </a:moveTo>
                  <a:lnTo>
                    <a:pt x="4499737" y="0"/>
                  </a:lnTo>
                  <a:lnTo>
                    <a:pt x="4499737" y="2124710"/>
                  </a:lnTo>
                  <a:lnTo>
                    <a:pt x="0" y="21247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1"/>
              </a:stretch>
            </a:blipFill>
          </p:spPr>
        </p:sp>
      </p:grpSp>
      <p:sp>
        <p:nvSpPr>
          <p:cNvPr name="Freeform 18" id="18" descr="Scientific references and open datasets used, with the project GitHub link"/>
          <p:cNvSpPr/>
          <p:nvPr/>
        </p:nvSpPr>
        <p:spPr>
          <a:xfrm flipH="false" flipV="false" rot="0">
            <a:off x="381000" y="1790700"/>
            <a:ext cx="17526000" cy="7620000"/>
          </a:xfrm>
          <a:custGeom>
            <a:avLst/>
            <a:gdLst/>
            <a:ahLst/>
            <a:cxnLst/>
            <a:rect r="r" b="b" t="t" l="l"/>
            <a:pathLst>
              <a:path h="7620000" w="17526000">
                <a:moveTo>
                  <a:pt x="0" y="0"/>
                </a:moveTo>
                <a:lnTo>
                  <a:pt x="17526000" y="0"/>
                </a:lnTo>
                <a:lnTo>
                  <a:pt x="17526000" y="7620000"/>
                </a:lnTo>
                <a:lnTo>
                  <a:pt x="0" y="762000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119" t="0" r="-119" b="0"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DAHXDrzqOlg</dc:identifier>
  <dcterms:modified xsi:type="dcterms:W3CDTF">2011-08-01T06:04:30Z</dcterms:modified>
  <cp:revision>1</cp:revision>
  <dc:title>SIH26086 - Monsoon Outlook - FAST&amp;CURIOUS</dc:title>
</cp:coreProperties>
</file>